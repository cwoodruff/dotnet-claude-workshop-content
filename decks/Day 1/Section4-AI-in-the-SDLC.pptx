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2.png"/><Relationship Id="rId7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914400"/>
            <a:ext cx="4572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DAY 1 CLOSE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74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the SDLC</a:t>
            </a:r>
            <a:endParaRPr lang="en-US" sz="5800" dirty="0"/>
          </a:p>
        </p:txBody>
      </p:sp>
      <p:sp>
        <p:nvSpPr>
          <p:cNvPr id="7" name="Shape 4"/>
          <p:cNvSpPr/>
          <p:nvPr/>
        </p:nvSpPr>
        <p:spPr>
          <a:xfrm>
            <a:off x="658368" y="30632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PAYS 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activities Claude Code accelerates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68680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2003633"/>
            <a:ext cx="272125" cy="2721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02336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66344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under real constraints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066544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2578608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6009" y="2003633"/>
            <a:ext cx="272125" cy="2721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112264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Construction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2176272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features from a spec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776472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4288536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5937" y="2003633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3822192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38862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at scale, safely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0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5998464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5865" y="2003633"/>
            <a:ext cx="272125" cy="27212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532120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596128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tests from the spec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7196328" y="1600200"/>
            <a:ext cx="1591056" cy="2194560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708392" y="1856232"/>
            <a:ext cx="566928" cy="56692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5793" y="2003633"/>
            <a:ext cx="272125" cy="272125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242048" y="2560320"/>
            <a:ext cx="1499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Debugging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7306056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root cause, not the symptom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2/14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SPECIFICATION-FIRST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spec beats a vague prompt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2587752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517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left to guess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27832" y="1371600"/>
            <a:ext cx="2587752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456432" y="1517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456432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Repeatable results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07024" y="1371600"/>
            <a:ext cx="2587752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135624" y="1517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review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135624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to intent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24871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6-SECTION SPEC TEMPLATE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31520" y="28346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Context &amp; scope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27832" y="2834640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410712" y="28346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API contract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07024" y="2834640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089904" y="283464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Data model &amp; persistence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3401568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31520" y="340156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Business rules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227832" y="3401568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3410712" y="340156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Tests required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907024" y="3401568"/>
            <a:ext cx="25877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089904" y="340156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 Prohibitions &amp; acceptance criteria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3/14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 the process, don't describe it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627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173699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4630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spec / review process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434840" y="14630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 skill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720840" y="146304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 Claude loads on demand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48640" y="2322576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749808" y="248716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2596530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232257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Failure-mode checks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434840" y="232257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 code-review skill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720840" y="2322576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/code-review checklist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182112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49808" y="334670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456066"/>
            <a:ext cx="201900" cy="201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71600" y="3182112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&amp; test gate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4434840" y="318211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 PostToolUse hook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6720840" y="3182112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automatically after edits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407822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CLAUDE.md “don't” list — encode rules as skills and hooks.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4/14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REFACTORING AT SCALE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Controlled, not all-at-once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5216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85216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30936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2048256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212848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212848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258568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675888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840480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840480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886200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303520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68112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468112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513832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 N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931152" y="1920240"/>
            <a:ext cx="164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095744" y="173736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F4E4DC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095744" y="18470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141464" y="2121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548640" y="306324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822960" y="331012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429000"/>
            <a:ext cx="219456" cy="21945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1463040" y="3063240"/>
            <a:ext cx="6949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Pause every N changes for approval.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Small batches keep diffs reviewable and reversible.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5/14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xUnit from the spec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from “tests required”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029200" y="1508760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5 of the spec becomes the test list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existing patterns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5029200" y="2386584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project's xUnit conventions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Offload the mechanical work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5029200" y="3264408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generation to the Haiku test-writer subagent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6/14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DEBUGGING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 cause, not symptom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75488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70432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078" y="1925726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21208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failure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66928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Output or stack trace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2395728" y="210312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2560320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255264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7910" y="1925726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606040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source &amp; tests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2651760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 before guessing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480560" y="210312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4645152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5340096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742" y="1925726"/>
            <a:ext cx="263347" cy="26334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690872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root cause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4736592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surface symptom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565392" y="210312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729984" y="1554480"/>
            <a:ext cx="19385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424928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7574" y="1925726"/>
            <a:ext cx="263347" cy="26334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775704" y="2423160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&amp; re-run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821424" y="2761488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 actually passes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548640" y="3474720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2"/>
          <p:cNvSpPr/>
          <p:nvPr/>
        </p:nvSpPr>
        <p:spPr>
          <a:xfrm>
            <a:off x="777240" y="3474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the source,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test.</a:t>
            </a:r>
            <a:endParaRPr lang="en-US" sz="1350" dirty="0"/>
          </a:p>
        </p:txBody>
      </p:sp>
      <p:sp>
        <p:nvSpPr>
          <p:cNvPr id="30" name="Shape 23"/>
          <p:cNvSpPr/>
          <p:nvPr/>
        </p:nvSpPr>
        <p:spPr>
          <a:xfrm>
            <a:off x="4663440" y="3474720"/>
            <a:ext cx="39319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4"/>
          <p:cNvSpPr/>
          <p:nvPr/>
        </p:nvSpPr>
        <p:spPr>
          <a:xfrm>
            <a:off x="4892040" y="3474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fix.</a:t>
            </a:r>
            <a:endParaRPr lang="en-US" sz="1350" dirty="0"/>
          </a:p>
        </p:txBody>
      </p:sp>
      <p:sp>
        <p:nvSpPr>
          <p:cNvPr id="32" name="Text 2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7/14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Debugging that starts before you ask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8046720" cy="1188720"/>
          </a:xfrm>
          <a:prstGeom prst="roundRect">
            <a:avLst>
              <a:gd name="adj" fmla="val 9231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68680" y="1901952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" y="2032711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155448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PostToolUse build / test hook </a:t>
            </a:r>
            <a:r>
              <a:rPr lang="en-US" sz="18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surfaces failures into context automatically.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75488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76656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018" y="3373770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edit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2395728" y="320040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2560320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2761488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850" y="3373770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273552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runs build/test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480560" y="320040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4645152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4846320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5682" y="3373770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enters context</a:t>
            </a:r>
            <a:endParaRPr lang="en-US" sz="1150" dirty="0"/>
          </a:p>
        </p:txBody>
      </p:sp>
      <p:sp>
        <p:nvSpPr>
          <p:cNvPr id="23" name="Text 16"/>
          <p:cNvSpPr/>
          <p:nvPr/>
        </p:nvSpPr>
        <p:spPr>
          <a:xfrm>
            <a:off x="6565392" y="3200400"/>
            <a:ext cx="146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6729984" y="2971800"/>
            <a:ext cx="193852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6931152" y="326440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514" y="3373770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443216" y="2971800"/>
            <a:ext cx="1161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starts fixing</a:t>
            </a:r>
            <a:endParaRPr lang="en-US" sz="1150" dirty="0"/>
          </a:p>
        </p:txBody>
      </p:sp>
      <p:sp>
        <p:nvSpPr>
          <p:cNvPr id="28" name="Text 20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8/14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.NET AI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failure modes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527048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1617391"/>
            <a:ext cx="166787" cy="16678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4173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Leaking EF entities across the API boundary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663440" y="1417320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4828032" y="1527048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375" y="1617391"/>
            <a:ext cx="166787" cy="16678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0680" y="141732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Sync-over-async + missing CancellationToken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548640" y="2093976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713232" y="2203704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2294047"/>
            <a:ext cx="166787" cy="16678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input validation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4663440" y="2093976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4828032" y="2203704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375" y="2294047"/>
            <a:ext cx="166787" cy="16678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440680" y="2093976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String-concatenated SQL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2770632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713232" y="2880360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575" y="2970703"/>
            <a:ext cx="166787" cy="166787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325880" y="277063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Swallowed exceptions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4663440" y="2770632"/>
            <a:ext cx="39319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8"/>
          <p:cNvSpPr/>
          <p:nvPr/>
        </p:nvSpPr>
        <p:spPr>
          <a:xfrm>
            <a:off x="4828032" y="2880360"/>
            <a:ext cx="347472" cy="347472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375" y="2970703"/>
            <a:ext cx="166787" cy="166787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5440680" y="2770632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Hallucinated or outdated APIs</a:t>
            </a:r>
            <a:endParaRPr lang="en-US" sz="1350" dirty="0"/>
          </a:p>
        </p:txBody>
      </p:sp>
      <p:sp>
        <p:nvSpPr>
          <p:cNvPr id="29" name="Shape 20"/>
          <p:cNvSpPr/>
          <p:nvPr/>
        </p:nvSpPr>
        <p:spPr>
          <a:xfrm>
            <a:off x="548640" y="3611880"/>
            <a:ext cx="8046720" cy="502920"/>
          </a:xfrm>
          <a:prstGeom prst="roundRect">
            <a:avLst>
              <a:gd name="adj" fmla="val 14545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1"/>
          <p:cNvSpPr/>
          <p:nvPr/>
        </p:nvSpPr>
        <p:spPr>
          <a:xfrm>
            <a:off x="777240" y="361188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them as </a:t>
            </a: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/code-review checks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deterministic hooks — never a prose “don't”.</a:t>
            </a:r>
            <a:endParaRPr lang="en-US" sz="1350" dirty="0"/>
          </a:p>
        </p:txBody>
      </p:sp>
      <p:sp>
        <p:nvSpPr>
          <p:cNvPr id="31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9/14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&amp; ADRS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Decisions with trade-offs, not guesses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733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602" y="17827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Trade-offs under real constraints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943600" y="150876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 · team size · hosting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86584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55117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602" y="2660538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386584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options with effort estimates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5943600" y="238658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a clear recommendation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264408"/>
            <a:ext cx="8046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3429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602" y="35383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264408"/>
            <a:ext cx="4480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it as a MADR-format ADR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5943600" y="3264408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· decision · consequences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10/14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from spec + live debugging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it, break it, then diagnose from a stack trace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271576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278709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69748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a full feature from a written spec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09981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71139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08152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Introduce a bug, then read the stack trace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8386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555187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65576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 → find root cause → fix → verify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50208"/>
            <a:ext cx="8046720" cy="438912"/>
          </a:xfrm>
          <a:prstGeom prst="roundRect">
            <a:avLst>
              <a:gd name="adj" fmla="val 16667"/>
            </a:avLst>
          </a:prstGeom>
          <a:solidFill>
            <a:srgbClr val="F6E0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50208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 it fail for real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the recovery is the lesson, not a clean run.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11/14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38328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37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4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22576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Capstone  ·  60 min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06624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3464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7238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Reading Progress feature — spec'd, built, tested &amp; debugged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521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430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spec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093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09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00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 from the spec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6654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665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057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tests &amp; debug failures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9464"/>
            <a:ext cx="45720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97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96265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9169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6-section spec committed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22783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821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implemented from spec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93008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472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xUnit tests pass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58184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124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bug found &amp; fixed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12/14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IT STICK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 morning — your action plan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58191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084" y="1681764"/>
            <a:ext cx="184343" cy="18434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61872" y="1508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your real project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261872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sandbox — real work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663440" y="141732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828032" y="158191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7884" y="1681764"/>
            <a:ext cx="184343" cy="184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76672" y="1508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5376672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prompt below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224028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40487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084" y="2504724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61872" y="23317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“Overview + 3 improvements”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261872" y="2606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Codebase tour, then impact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663440" y="224028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828032" y="240487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7884" y="2504724"/>
            <a:ext cx="184343" cy="18434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76672" y="23317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CLAUDE.md</a:t>
            </a:r>
            <a:endParaRPr lang="en-US" sz="1350" dirty="0"/>
          </a:p>
        </p:txBody>
      </p:sp>
      <p:sp>
        <p:nvSpPr>
          <p:cNvPr id="24" name="Text 17"/>
          <p:cNvSpPr/>
          <p:nvPr/>
        </p:nvSpPr>
        <p:spPr>
          <a:xfrm>
            <a:off x="5376672" y="26060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48640" y="306324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22783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084" y="3327684"/>
            <a:ext cx="184343" cy="18434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61872" y="31546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one rule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1261872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scoped standard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663440" y="3063240"/>
            <a:ext cx="393192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4828032" y="3227832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7884" y="3327684"/>
            <a:ext cx="184343" cy="184343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76672" y="31546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one guardrail hook</a:t>
            </a:r>
            <a:endParaRPr lang="en-US" sz="1350" dirty="0"/>
          </a:p>
        </p:txBody>
      </p:sp>
      <p:sp>
        <p:nvSpPr>
          <p:cNvPr id="34" name="Text 25"/>
          <p:cNvSpPr/>
          <p:nvPr/>
        </p:nvSpPr>
        <p:spPr>
          <a:xfrm>
            <a:off x="5376672" y="3429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PostToolUse check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13/14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COMING UP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6459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Anthropic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C# SDK &amp; API track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063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driving the agent to building on the models directly — in .NET.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611880"/>
            <a:ext cx="5212080" cy="548640"/>
          </a:xfrm>
          <a:prstGeom prst="roundRect">
            <a:avLst>
              <a:gd name="adj" fmla="val 16667"/>
            </a:avLst>
          </a:prstGeom>
          <a:solidFill>
            <a:srgbClr val="33302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74904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3611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0EC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a separate Anthropic API key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 ·  14/14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710</Words>
  <Application>Microsoft Macintosh PowerPoint</Application>
  <PresentationFormat>On-screen Show (16:9)</PresentationFormat>
  <Paragraphs>176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4 — AI in the SDLC</dc:title>
  <dc:subject>PptxGenJS Presentation</dc:subject>
  <dc:creator>dotnetclaude.com</dc:creator>
  <cp:lastModifiedBy>Chris Woodruff</cp:lastModifiedBy>
  <cp:revision>3</cp:revision>
  <dcterms:created xsi:type="dcterms:W3CDTF">2026-06-26T15:20:29Z</dcterms:created>
  <dcterms:modified xsi:type="dcterms:W3CDTF">2026-07-08T19:01:28Z</dcterms:modified>
</cp:coreProperties>
</file>