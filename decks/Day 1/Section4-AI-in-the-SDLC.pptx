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Georgia"/>
          <a:ea typeface="Georgia"/>
          <a:cs typeface="Georgia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Inter"/>
          <a:ea typeface="Inter"/>
          <a:cs typeface="Inter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Inter"/>
          <a:ea typeface="Inter"/>
          <a:cs typeface="Inter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Inter"/>
          <a:ea typeface="Inter"/>
          <a:cs typeface="Inter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Inter"/>
          <a:ea typeface="Inter"/>
          <a:cs typeface="Inter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Inter"/>
          <a:ea typeface="Inter"/>
          <a:cs typeface="Inter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5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2.png"/><Relationship Id="rId7" Type="http://schemas.openxmlformats.org/officeDocument/2006/relationships/image" Target="../media/image1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5.png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640080"/>
            <a:ext cx="960120" cy="9601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83880" y="1417320"/>
            <a:ext cx="411480" cy="411480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914400"/>
            <a:ext cx="457200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4  ·  DAY 1 CLOSE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03504" y="18745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in the SDLC</a:t>
            </a:r>
            <a:endParaRPr lang="en-US" sz="5800" dirty="0"/>
          </a:p>
        </p:txBody>
      </p:sp>
      <p:sp>
        <p:nvSpPr>
          <p:cNvPr id="7" name="Shape 4"/>
          <p:cNvSpPr/>
          <p:nvPr/>
        </p:nvSpPr>
        <p:spPr>
          <a:xfrm>
            <a:off x="658368" y="3063240"/>
            <a:ext cx="1005840" cy="0"/>
          </a:xfrm>
          <a:prstGeom prst="line">
            <a:avLst/>
          </a:prstGeom>
          <a:noFill/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40080" y="3200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 min  ·  30 lecture / demo  +  60 lab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IT PAYS OFF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activities Claude Code accelerates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56616" y="1600200"/>
            <a:ext cx="1591056" cy="219456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868680" y="1856232"/>
            <a:ext cx="566928" cy="56692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81" y="2003633"/>
            <a:ext cx="272125" cy="27212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02336" y="2560320"/>
            <a:ext cx="1499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466344" y="29260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under real constraints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066544" y="1600200"/>
            <a:ext cx="1591056" cy="219456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2578608" y="1856232"/>
            <a:ext cx="566928" cy="56692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6009" y="2003633"/>
            <a:ext cx="272125" cy="27212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112264" y="2560320"/>
            <a:ext cx="1499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Construction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2176272" y="29260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features from a spec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3776472" y="1600200"/>
            <a:ext cx="1591056" cy="219456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4288536" y="1856232"/>
            <a:ext cx="566928" cy="56692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5937" y="2003633"/>
            <a:ext cx="272125" cy="27212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3822192" y="2560320"/>
            <a:ext cx="1499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Refactoring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3886200" y="29260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at scale, safely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486400" y="1600200"/>
            <a:ext cx="1591056" cy="219456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5998464" y="1856232"/>
            <a:ext cx="566928" cy="56692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5865" y="2003633"/>
            <a:ext cx="272125" cy="272125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532120" y="2560320"/>
            <a:ext cx="1499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Testing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5596128" y="29260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 tests from the spec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7196328" y="1600200"/>
            <a:ext cx="1591056" cy="219456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19"/>
          <p:cNvSpPr/>
          <p:nvPr/>
        </p:nvSpPr>
        <p:spPr>
          <a:xfrm>
            <a:off x="7708392" y="1856232"/>
            <a:ext cx="566928" cy="56692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55793" y="2003633"/>
            <a:ext cx="272125" cy="272125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242048" y="2560320"/>
            <a:ext cx="1499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Debugging</a:t>
            </a:r>
            <a:endParaRPr lang="en-US" sz="1450" dirty="0"/>
          </a:p>
        </p:txBody>
      </p:sp>
      <p:sp>
        <p:nvSpPr>
          <p:cNvPr id="29" name="Text 21"/>
          <p:cNvSpPr/>
          <p:nvPr/>
        </p:nvSpPr>
        <p:spPr>
          <a:xfrm>
            <a:off x="7306056" y="29260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Find the root cause, not the symptom</a:t>
            </a:r>
            <a:endParaRPr lang="en-US" sz="1100" dirty="0"/>
          </a:p>
        </p:txBody>
      </p:sp>
      <p:sp>
        <p:nvSpPr>
          <p:cNvPr id="30" name="Text 22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1" name="Text 23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4  ·  2/14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SPECIFICATION-FIRST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spec beats a vague prompt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2587752" cy="868680"/>
          </a:xfrm>
          <a:prstGeom prst="roundRect">
            <a:avLst>
              <a:gd name="adj" fmla="val 10526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777240" y="151790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Precise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 left to guess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27832" y="1371600"/>
            <a:ext cx="2587752" cy="868680"/>
          </a:xfrm>
          <a:prstGeom prst="roundRect">
            <a:avLst>
              <a:gd name="adj" fmla="val 10526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3456432" y="151790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Consistent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456432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Repeatable results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907024" y="1371600"/>
            <a:ext cx="2587752" cy="868680"/>
          </a:xfrm>
          <a:prstGeom prst="roundRect">
            <a:avLst>
              <a:gd name="adj" fmla="val 10526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135624" y="151790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Faster review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135624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Compare to intent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48640" y="248716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6-SECTION SPEC TEMPLATE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2834640"/>
            <a:ext cx="258775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731520" y="2834640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 Context &amp; scope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3227832" y="2834640"/>
            <a:ext cx="258775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3410712" y="2834640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 API contract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907024" y="2834640"/>
            <a:ext cx="258775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6089904" y="2834640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 Data model &amp; persistence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48640" y="3401568"/>
            <a:ext cx="258775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731520" y="340156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 Business rules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3227832" y="3401568"/>
            <a:ext cx="258775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3410712" y="340156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 Tests required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907024" y="3401568"/>
            <a:ext cx="258775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6089904" y="340156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 Prohibitions &amp; acceptance criteria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4  ·  3/14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TIE-IN TO SECTION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Encode the process, don't describe it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49808" y="162763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70" y="1736994"/>
            <a:ext cx="201900" cy="2019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71600" y="146304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spec / review process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4434840" y="146304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 skill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6720840" y="1463040"/>
            <a:ext cx="1737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Steps Claude loads on demand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548640" y="2322576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749808" y="248716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170" y="2596530"/>
            <a:ext cx="201900" cy="2019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71600" y="2322576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Failure-mode checks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4434840" y="2322576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 code-review skill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6720840" y="2322576"/>
            <a:ext cx="1737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/code-review checklist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548640" y="3182112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749808" y="3346704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170" y="3456066"/>
            <a:ext cx="201900" cy="20190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371600" y="3182112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&amp; test gate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4434840" y="3182112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 PostToolUse hook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6720840" y="3182112"/>
            <a:ext cx="1737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Runs automatically after edits</a:t>
            </a:r>
            <a:endParaRPr lang="en-US" sz="1150" dirty="0"/>
          </a:p>
        </p:txBody>
      </p:sp>
      <p:sp>
        <p:nvSpPr>
          <p:cNvPr id="23" name="Text 17"/>
          <p:cNvSpPr/>
          <p:nvPr/>
        </p:nvSpPr>
        <p:spPr>
          <a:xfrm>
            <a:off x="548640" y="407822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CLAUDE.md “don't” list — encode rules as skills and hooks.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4  ·  4/14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REFACTORING AT SCALE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Controlled, not all-at-once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5216" y="1737360"/>
            <a:ext cx="14630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85216" y="1847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30936" y="21214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2048256" y="1920240"/>
            <a:ext cx="164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212848" y="1737360"/>
            <a:ext cx="14630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2212848" y="1847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2258568" y="21214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3675888" y="1920240"/>
            <a:ext cx="164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840480" y="1737360"/>
            <a:ext cx="14630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3840480" y="1847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886200" y="21214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5303520" y="1920240"/>
            <a:ext cx="164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468112" y="1737360"/>
            <a:ext cx="14630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468112" y="1847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513832" y="21214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Execute N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6931152" y="1920240"/>
            <a:ext cx="164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095744" y="1737360"/>
            <a:ext cx="1463040" cy="914400"/>
          </a:xfrm>
          <a:prstGeom prst="roundRect">
            <a:avLst>
              <a:gd name="adj" fmla="val 10000"/>
            </a:avLst>
          </a:prstGeom>
          <a:solidFill>
            <a:srgbClr val="F4E4DC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7095744" y="1847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141464" y="21214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</a:t>
            </a:r>
            <a:endParaRPr lang="en-US" sz="1450" dirty="0"/>
          </a:p>
        </p:txBody>
      </p:sp>
      <p:sp>
        <p:nvSpPr>
          <p:cNvPr id="24" name="Shape 21"/>
          <p:cNvSpPr/>
          <p:nvPr/>
        </p:nvSpPr>
        <p:spPr>
          <a:xfrm>
            <a:off x="548640" y="3063240"/>
            <a:ext cx="8046720" cy="960120"/>
          </a:xfrm>
          <a:prstGeom prst="roundRect">
            <a:avLst>
              <a:gd name="adj" fmla="val 9524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822960" y="3310128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3429000"/>
            <a:ext cx="219456" cy="219456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1463040" y="3063240"/>
            <a:ext cx="6949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Pause every N changes for approval.</a:t>
            </a:r>
            <a:r>
              <a:rPr lang="en-US" sz="15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Small batches keep diffs reviewable and reversible.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4  ·  5/14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Generate xUnit from the spec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08760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77240" y="167335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602" y="1782714"/>
            <a:ext cx="201900" cy="2019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1508760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from “tests required”</a:t>
            </a:r>
            <a:endParaRPr lang="en-US" sz="1550" dirty="0"/>
          </a:p>
        </p:txBody>
      </p:sp>
      <p:sp>
        <p:nvSpPr>
          <p:cNvPr id="9" name="Text 5"/>
          <p:cNvSpPr/>
          <p:nvPr/>
        </p:nvSpPr>
        <p:spPr>
          <a:xfrm>
            <a:off x="5029200" y="1508760"/>
            <a:ext cx="3383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5 of the spec becomes the test list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386584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777240" y="2551176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602" y="2660538"/>
            <a:ext cx="201900" cy="2019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63040" y="2386584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Reuse existing patterns</a:t>
            </a:r>
            <a:endParaRPr lang="en-US" sz="1550" dirty="0"/>
          </a:p>
        </p:txBody>
      </p:sp>
      <p:sp>
        <p:nvSpPr>
          <p:cNvPr id="14" name="Text 9"/>
          <p:cNvSpPr/>
          <p:nvPr/>
        </p:nvSpPr>
        <p:spPr>
          <a:xfrm>
            <a:off x="5029200" y="2386584"/>
            <a:ext cx="3383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Match the project's xUnit conventions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3264408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777240" y="342900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602" y="353836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63040" y="3264408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Offload the mechanical work</a:t>
            </a:r>
            <a:endParaRPr lang="en-US" sz="1550" dirty="0"/>
          </a:p>
        </p:txBody>
      </p:sp>
      <p:sp>
        <p:nvSpPr>
          <p:cNvPr id="19" name="Text 13"/>
          <p:cNvSpPr/>
          <p:nvPr/>
        </p:nvSpPr>
        <p:spPr>
          <a:xfrm>
            <a:off x="5029200" y="3264408"/>
            <a:ext cx="3383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 generation to the Haiku test-writer subagent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4  ·  6/14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DEBUGGING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Root cause, not symptom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75488" y="1554480"/>
            <a:ext cx="193852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170432" y="1783080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3078" y="1925726"/>
            <a:ext cx="263347" cy="26334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21208" y="2423160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Paste the failure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566928" y="2761488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Output or stack trace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2395728" y="2103120"/>
            <a:ext cx="146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2560320" y="1554480"/>
            <a:ext cx="193852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3255264" y="1783080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7910" y="1925726"/>
            <a:ext cx="263347" cy="26334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606040" y="2423160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source &amp; tests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2651760" y="2761488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Ground before guessing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4480560" y="2103120"/>
            <a:ext cx="146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4645152" y="1554480"/>
            <a:ext cx="193852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5340096" y="1783080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2742" y="1925726"/>
            <a:ext cx="263347" cy="263347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4690872" y="2423160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Find root cause</a:t>
            </a:r>
            <a:endParaRPr lang="en-US" sz="1350" dirty="0"/>
          </a:p>
        </p:txBody>
      </p:sp>
      <p:sp>
        <p:nvSpPr>
          <p:cNvPr id="21" name="Text 15"/>
          <p:cNvSpPr/>
          <p:nvPr/>
        </p:nvSpPr>
        <p:spPr>
          <a:xfrm>
            <a:off x="4736592" y="2761488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the surface symptom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6565392" y="2103120"/>
            <a:ext cx="146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17"/>
          <p:cNvSpPr/>
          <p:nvPr/>
        </p:nvSpPr>
        <p:spPr>
          <a:xfrm>
            <a:off x="6729984" y="1554480"/>
            <a:ext cx="193852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8"/>
          <p:cNvSpPr/>
          <p:nvPr/>
        </p:nvSpPr>
        <p:spPr>
          <a:xfrm>
            <a:off x="7424928" y="1783080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7574" y="1925726"/>
            <a:ext cx="263347" cy="263347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6775704" y="2423160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 &amp; re-run</a:t>
            </a:r>
            <a:endParaRPr lang="en-US" sz="1350" dirty="0"/>
          </a:p>
        </p:txBody>
      </p:sp>
      <p:sp>
        <p:nvSpPr>
          <p:cNvPr id="27" name="Text 20"/>
          <p:cNvSpPr/>
          <p:nvPr/>
        </p:nvSpPr>
        <p:spPr>
          <a:xfrm>
            <a:off x="6821424" y="2761488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 it actually passes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548640" y="3474720"/>
            <a:ext cx="3931920" cy="548640"/>
          </a:xfrm>
          <a:prstGeom prst="roundRect">
            <a:avLst>
              <a:gd name="adj" fmla="val 13333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2"/>
          <p:cNvSpPr/>
          <p:nvPr/>
        </p:nvSpPr>
        <p:spPr>
          <a:xfrm>
            <a:off x="777240" y="34747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 the source, </a:t>
            </a: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the test.</a:t>
            </a:r>
            <a:endParaRPr lang="en-US" sz="1350" dirty="0"/>
          </a:p>
        </p:txBody>
      </p:sp>
      <p:sp>
        <p:nvSpPr>
          <p:cNvPr id="30" name="Shape 23"/>
          <p:cNvSpPr/>
          <p:nvPr/>
        </p:nvSpPr>
        <p:spPr>
          <a:xfrm>
            <a:off x="4663440" y="3474720"/>
            <a:ext cx="3931920" cy="548640"/>
          </a:xfrm>
          <a:prstGeom prst="roundRect">
            <a:avLst>
              <a:gd name="adj" fmla="val 13333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4"/>
          <p:cNvSpPr/>
          <p:nvPr/>
        </p:nvSpPr>
        <p:spPr>
          <a:xfrm>
            <a:off x="4892040" y="34747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Reproduce </a:t>
            </a: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you fix.</a:t>
            </a:r>
            <a:endParaRPr lang="en-US" sz="1350" dirty="0"/>
          </a:p>
        </p:txBody>
      </p:sp>
      <p:sp>
        <p:nvSpPr>
          <p:cNvPr id="32" name="Text 25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4  ·  7/14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TIE-IN TO SECTION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Debugging that starts before you ask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8046720" cy="1188720"/>
          </a:xfrm>
          <a:prstGeom prst="roundRect">
            <a:avLst>
              <a:gd name="adj" fmla="val 9231"/>
            </a:avLst>
          </a:prstGeom>
          <a:solidFill>
            <a:srgbClr val="F4E4DC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868680" y="1901952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439" y="2032711"/>
            <a:ext cx="241402" cy="24140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600200" y="155448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PostToolUse build / test hook </a:t>
            </a:r>
            <a:r>
              <a:rPr lang="en-US" sz="18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surfaces failures into context automatically.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75488" y="2971800"/>
            <a:ext cx="1938528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676656" y="326440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018" y="3373770"/>
            <a:ext cx="201900" cy="2019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88720" y="2971800"/>
            <a:ext cx="1161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edit</a:t>
            </a:r>
            <a:endParaRPr lang="en-US" sz="1150" dirty="0"/>
          </a:p>
        </p:txBody>
      </p:sp>
      <p:sp>
        <p:nvSpPr>
          <p:cNvPr id="13" name="Text 8"/>
          <p:cNvSpPr/>
          <p:nvPr/>
        </p:nvSpPr>
        <p:spPr>
          <a:xfrm>
            <a:off x="2395728" y="3200400"/>
            <a:ext cx="146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2560320" y="2971800"/>
            <a:ext cx="1938528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2761488" y="326440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0850" y="3373770"/>
            <a:ext cx="201900" cy="2019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273552" y="2971800"/>
            <a:ext cx="1161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 runs build/test</a:t>
            </a:r>
            <a:endParaRPr lang="en-US" sz="1150" dirty="0"/>
          </a:p>
        </p:txBody>
      </p:sp>
      <p:sp>
        <p:nvSpPr>
          <p:cNvPr id="18" name="Text 12"/>
          <p:cNvSpPr/>
          <p:nvPr/>
        </p:nvSpPr>
        <p:spPr>
          <a:xfrm>
            <a:off x="4480560" y="3200400"/>
            <a:ext cx="146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3"/>
          <p:cNvSpPr/>
          <p:nvPr/>
        </p:nvSpPr>
        <p:spPr>
          <a:xfrm>
            <a:off x="4645152" y="2971800"/>
            <a:ext cx="1938528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4846320" y="326440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5682" y="3373770"/>
            <a:ext cx="201900" cy="2019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358384" y="2971800"/>
            <a:ext cx="1161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Failure enters context</a:t>
            </a:r>
            <a:endParaRPr lang="en-US" sz="1150" dirty="0"/>
          </a:p>
        </p:txBody>
      </p:sp>
      <p:sp>
        <p:nvSpPr>
          <p:cNvPr id="23" name="Text 16"/>
          <p:cNvSpPr/>
          <p:nvPr/>
        </p:nvSpPr>
        <p:spPr>
          <a:xfrm>
            <a:off x="6565392" y="3200400"/>
            <a:ext cx="146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6729984" y="2971800"/>
            <a:ext cx="1938528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8"/>
          <p:cNvSpPr/>
          <p:nvPr/>
        </p:nvSpPr>
        <p:spPr>
          <a:xfrm>
            <a:off x="6931152" y="326440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514" y="3373770"/>
            <a:ext cx="201900" cy="20190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7443216" y="2971800"/>
            <a:ext cx="1161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starts fixing</a:t>
            </a:r>
            <a:endParaRPr lang="en-US" sz="1150" dirty="0"/>
          </a:p>
        </p:txBody>
      </p:sp>
      <p:sp>
        <p:nvSpPr>
          <p:cNvPr id="28" name="Text 20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4  ·  8/14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.NET AI CODE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six failure modes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39319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13232" y="1527048"/>
            <a:ext cx="347472" cy="34747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575" y="1617391"/>
            <a:ext cx="166787" cy="16678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25880" y="141732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Leaking EF entities across the API boundary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4663440" y="1417320"/>
            <a:ext cx="39319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4828032" y="1527048"/>
            <a:ext cx="347472" cy="34747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8375" y="1617391"/>
            <a:ext cx="166787" cy="166787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440680" y="141732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Sync-over-async + missing CancellationToken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548640" y="2093976"/>
            <a:ext cx="39319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713232" y="2203704"/>
            <a:ext cx="347472" cy="34747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575" y="2294047"/>
            <a:ext cx="166787" cy="166787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325880" y="2093976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input validation</a:t>
            </a:r>
            <a:endParaRPr lang="en-US" sz="1350" dirty="0"/>
          </a:p>
        </p:txBody>
      </p:sp>
      <p:sp>
        <p:nvSpPr>
          <p:cNvPr id="17" name="Shape 11"/>
          <p:cNvSpPr/>
          <p:nvPr/>
        </p:nvSpPr>
        <p:spPr>
          <a:xfrm>
            <a:off x="4663440" y="2093976"/>
            <a:ext cx="39319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2"/>
          <p:cNvSpPr/>
          <p:nvPr/>
        </p:nvSpPr>
        <p:spPr>
          <a:xfrm>
            <a:off x="4828032" y="2203704"/>
            <a:ext cx="347472" cy="34747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8375" y="2294047"/>
            <a:ext cx="166787" cy="166787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5440680" y="2093976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String-concatenated SQL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548640" y="2770632"/>
            <a:ext cx="39319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5"/>
          <p:cNvSpPr/>
          <p:nvPr/>
        </p:nvSpPr>
        <p:spPr>
          <a:xfrm>
            <a:off x="713232" y="2880360"/>
            <a:ext cx="347472" cy="34747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575" y="2970703"/>
            <a:ext cx="166787" cy="166787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1325880" y="2770632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Swallowed exceptions</a:t>
            </a:r>
            <a:endParaRPr lang="en-US" sz="1350" dirty="0"/>
          </a:p>
        </p:txBody>
      </p:sp>
      <p:sp>
        <p:nvSpPr>
          <p:cNvPr id="25" name="Shape 17"/>
          <p:cNvSpPr/>
          <p:nvPr/>
        </p:nvSpPr>
        <p:spPr>
          <a:xfrm>
            <a:off x="4663440" y="2770632"/>
            <a:ext cx="39319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18"/>
          <p:cNvSpPr/>
          <p:nvPr/>
        </p:nvSpPr>
        <p:spPr>
          <a:xfrm>
            <a:off x="4828032" y="2880360"/>
            <a:ext cx="347472" cy="34747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8375" y="2970703"/>
            <a:ext cx="166787" cy="166787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5440680" y="2770632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Hallucinated or outdated APIs</a:t>
            </a:r>
            <a:endParaRPr lang="en-US" sz="1350" dirty="0"/>
          </a:p>
        </p:txBody>
      </p:sp>
      <p:sp>
        <p:nvSpPr>
          <p:cNvPr id="29" name="Shape 20"/>
          <p:cNvSpPr/>
          <p:nvPr/>
        </p:nvSpPr>
        <p:spPr>
          <a:xfrm>
            <a:off x="548640" y="3611880"/>
            <a:ext cx="8046720" cy="502920"/>
          </a:xfrm>
          <a:prstGeom prst="roundRect">
            <a:avLst>
              <a:gd name="adj" fmla="val 14545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1"/>
          <p:cNvSpPr/>
          <p:nvPr/>
        </p:nvSpPr>
        <p:spPr>
          <a:xfrm>
            <a:off x="777240" y="361188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Catch them as </a:t>
            </a:r>
            <a:r>
              <a:rPr lang="en-US" sz="135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/code-review checks </a:t>
            </a: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deterministic hooks — never a prose “don't”.</a:t>
            </a:r>
            <a:endParaRPr lang="en-US" sz="1350" dirty="0"/>
          </a:p>
        </p:txBody>
      </p:sp>
      <p:sp>
        <p:nvSpPr>
          <p:cNvPr id="31" name="Text 22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2" name="Text 23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4  ·  9/14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 &amp; ADRS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Decisions with trade-offs, not guesses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08760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77240" y="167335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602" y="1782714"/>
            <a:ext cx="201900" cy="2019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1508760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Trade-offs under real constraints</a:t>
            </a:r>
            <a:endParaRPr lang="en-US" sz="1550" dirty="0"/>
          </a:p>
        </p:txBody>
      </p:sp>
      <p:sp>
        <p:nvSpPr>
          <p:cNvPr id="9" name="Text 5"/>
          <p:cNvSpPr/>
          <p:nvPr/>
        </p:nvSpPr>
        <p:spPr>
          <a:xfrm>
            <a:off x="5943600" y="1508760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Load · team size · hosting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386584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777240" y="2551176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602" y="2660538"/>
            <a:ext cx="201900" cy="2019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63040" y="2386584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options with effort estimates</a:t>
            </a:r>
            <a:endParaRPr lang="en-US" sz="1550" dirty="0"/>
          </a:p>
        </p:txBody>
      </p:sp>
      <p:sp>
        <p:nvSpPr>
          <p:cNvPr id="14" name="Text 9"/>
          <p:cNvSpPr/>
          <p:nvPr/>
        </p:nvSpPr>
        <p:spPr>
          <a:xfrm>
            <a:off x="5943600" y="2386584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Plus a clear recommendation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3264408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777240" y="342900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602" y="353836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63040" y="3264408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Capture it as a MADR-format ADR</a:t>
            </a:r>
            <a:endParaRPr lang="en-US" sz="1550" dirty="0"/>
          </a:p>
        </p:txBody>
      </p:sp>
      <p:sp>
        <p:nvSpPr>
          <p:cNvPr id="19" name="Text 13"/>
          <p:cNvSpPr/>
          <p:nvPr/>
        </p:nvSpPr>
        <p:spPr>
          <a:xfrm>
            <a:off x="5943600" y="3264408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· decision · consequences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4  ·  10/14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2296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804672" y="1014984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1051560" y="822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kern="0" spc="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" y="16002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from spec + live debugging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548640" y="212140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it, break it, then diagnose from a stack trace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66928" y="271576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" y="2787091"/>
            <a:ext cx="131674" cy="13167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2697480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 a full feature from a written spec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66928" y="3099816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" y="3171139"/>
            <a:ext cx="131674" cy="13167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3081528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Introduce a bug, then read the stack trace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566928" y="3483864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" y="3555187"/>
            <a:ext cx="131674" cy="13167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60120" y="3465576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Reproduce → find root cause → fix → verify</a:t>
            </a:r>
            <a:endParaRPr lang="en-US" sz="1450" dirty="0"/>
          </a:p>
        </p:txBody>
      </p:sp>
      <p:sp>
        <p:nvSpPr>
          <p:cNvPr id="17" name="Shape 11"/>
          <p:cNvSpPr/>
          <p:nvPr/>
        </p:nvSpPr>
        <p:spPr>
          <a:xfrm>
            <a:off x="548640" y="3950208"/>
            <a:ext cx="8046720" cy="438912"/>
          </a:xfrm>
          <a:prstGeom prst="roundRect">
            <a:avLst>
              <a:gd name="adj" fmla="val 16667"/>
            </a:avLst>
          </a:prstGeom>
          <a:solidFill>
            <a:srgbClr val="F6E0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2"/>
          <p:cNvSpPr/>
          <p:nvPr/>
        </p:nvSpPr>
        <p:spPr>
          <a:xfrm>
            <a:off x="777240" y="3950208"/>
            <a:ext cx="7680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039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Let it fail for real  </a:t>
            </a: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the recovery is the lesson, not a clean run.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4  ·  11/14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22960"/>
            <a:ext cx="3154680" cy="3383280"/>
          </a:xfrm>
          <a:prstGeom prst="roundRect">
            <a:avLst>
              <a:gd name="adj" fmla="val 3478"/>
            </a:avLst>
          </a:prstGeom>
          <a:solidFill>
            <a:srgbClr val="D97757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133856"/>
            <a:ext cx="548640" cy="54864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68680" y="17373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4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868680" y="2322576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Capstone  ·  60 min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886968" y="2706624"/>
            <a:ext cx="1691640" cy="0"/>
          </a:xfrm>
          <a:prstGeom prst="line">
            <a:avLst/>
          </a:prstGeom>
          <a:noFill/>
          <a:ln w="19050">
            <a:solidFill>
              <a:srgbClr val="F2C9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868680" y="283464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68680" y="3072384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Reading Progress feature — spec'd, built, tested &amp; debugged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069080" y="822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PARTS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069080" y="1152144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4069080" y="1152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526280" y="11430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 spec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4069080" y="1609344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4069080" y="16093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526280" y="16002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 from the spec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069080" y="2066544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4069080" y="20665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4526280" y="20574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tests &amp; debug failures</a:t>
            </a:r>
            <a:endParaRPr lang="en-US" sz="1450" dirty="0"/>
          </a:p>
        </p:txBody>
      </p:sp>
      <p:sp>
        <p:nvSpPr>
          <p:cNvPr id="20" name="Shape 16"/>
          <p:cNvSpPr/>
          <p:nvPr/>
        </p:nvSpPr>
        <p:spPr>
          <a:xfrm>
            <a:off x="4069080" y="2569464"/>
            <a:ext cx="457200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4297680" y="269748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CHECKPOINT</a:t>
            </a:r>
            <a:endParaRPr lang="en-US" sz="105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2962656"/>
            <a:ext cx="182880" cy="18288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572000" y="291693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6-section spec committed</a:t>
            </a:r>
            <a:endParaRPr lang="en-US" sz="1250" dirty="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3227832"/>
            <a:ext cx="182880" cy="18288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4572000" y="318211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implemented from spec</a:t>
            </a:r>
            <a:endParaRPr lang="en-US" sz="125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3493008"/>
            <a:ext cx="182880" cy="18288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572000" y="34472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xUnit tests pass</a:t>
            </a:r>
            <a:endParaRPr lang="en-US" sz="1250" dirty="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3758184"/>
            <a:ext cx="182880" cy="182880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4572000" y="371246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real bug found &amp; fixed</a:t>
            </a:r>
            <a:endParaRPr lang="en-US" sz="1250" dirty="0"/>
          </a:p>
        </p:txBody>
      </p:sp>
      <p:sp>
        <p:nvSpPr>
          <p:cNvPr id="30" name="Text 22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1" name="Text 23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4  ·  12/14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 IT STICK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Tomorrow morning — your action plan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3931920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13232" y="1581912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084" y="1681764"/>
            <a:ext cx="184343" cy="18434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261872" y="1508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your real project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1261872" y="17830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sandbox — real work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663440" y="1417320"/>
            <a:ext cx="3931920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4828032" y="1581912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7884" y="1681764"/>
            <a:ext cx="184343" cy="18434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376672" y="1508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claude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5376672" y="17830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prompt below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2240280"/>
            <a:ext cx="3931920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713232" y="2404872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084" y="2504724"/>
            <a:ext cx="184343" cy="18434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61872" y="23317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“Overview + 3 improvements”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261872" y="26060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Codebase tour, then impact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4663440" y="2240280"/>
            <a:ext cx="3931920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4828032" y="2404872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27884" y="2504724"/>
            <a:ext cx="184343" cy="184343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376672" y="23317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a CLAUDE.md</a:t>
            </a:r>
            <a:endParaRPr lang="en-US" sz="1350" dirty="0"/>
          </a:p>
        </p:txBody>
      </p:sp>
      <p:sp>
        <p:nvSpPr>
          <p:cNvPr id="24" name="Text 17"/>
          <p:cNvSpPr/>
          <p:nvPr/>
        </p:nvSpPr>
        <p:spPr>
          <a:xfrm>
            <a:off x="5376672" y="26060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Bootstrap with /init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548640" y="3063240"/>
            <a:ext cx="3931920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19"/>
          <p:cNvSpPr/>
          <p:nvPr/>
        </p:nvSpPr>
        <p:spPr>
          <a:xfrm>
            <a:off x="713232" y="3227832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084" y="3327684"/>
            <a:ext cx="184343" cy="184343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261872" y="315468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one rule</a:t>
            </a:r>
            <a:endParaRPr lang="en-US" sz="1350" dirty="0"/>
          </a:p>
        </p:txBody>
      </p:sp>
      <p:sp>
        <p:nvSpPr>
          <p:cNvPr id="29" name="Text 21"/>
          <p:cNvSpPr/>
          <p:nvPr/>
        </p:nvSpPr>
        <p:spPr>
          <a:xfrm>
            <a:off x="1261872" y="34290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scoped standard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4663440" y="3063240"/>
            <a:ext cx="3931920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3"/>
          <p:cNvSpPr/>
          <p:nvPr/>
        </p:nvSpPr>
        <p:spPr>
          <a:xfrm>
            <a:off x="4828032" y="3227832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27884" y="3327684"/>
            <a:ext cx="184343" cy="184343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5376672" y="315468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one guardrail hook</a:t>
            </a:r>
            <a:endParaRPr lang="en-US" sz="1350" dirty="0"/>
          </a:p>
        </p:txBody>
      </p:sp>
      <p:sp>
        <p:nvSpPr>
          <p:cNvPr id="34" name="Text 25"/>
          <p:cNvSpPr/>
          <p:nvPr/>
        </p:nvSpPr>
        <p:spPr>
          <a:xfrm>
            <a:off x="5376672" y="34290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 PostToolUse check</a:t>
            </a:r>
            <a:endParaRPr lang="en-US" sz="1100" dirty="0"/>
          </a:p>
        </p:txBody>
      </p:sp>
      <p:sp>
        <p:nvSpPr>
          <p:cNvPr id="35" name="Text 26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6" name="Text 27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4  ·  13/14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F1E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280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COMING UP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603504" y="164592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the Anthropic</a:t>
            </a:r>
            <a:endParaRPr lang="en-US" sz="4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C# SDK &amp; API track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063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9C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driving the agent to building on the models directly — in .NET.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3611880"/>
            <a:ext cx="5212080" cy="548640"/>
          </a:xfrm>
          <a:prstGeom prst="roundRect">
            <a:avLst>
              <a:gd name="adj" fmla="val 16667"/>
            </a:avLst>
          </a:prstGeom>
          <a:solidFill>
            <a:srgbClr val="33302A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3749040"/>
            <a:ext cx="274320" cy="274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234440" y="36118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0EC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 a separate Anthropic API key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95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95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4  ·  14/14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720</Words>
  <Application>Microsoft Macintosh PowerPoint</Application>
  <PresentationFormat>On-screen Show (16:9)</PresentationFormat>
  <Paragraphs>177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Georgia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Section 4 — AI in the SDLC</dc:title>
  <dc:subject>PptxGenJS Presentation</dc:subject>
  <dc:creator>dotnetclaude.com</dc:creator>
  <cp:lastModifiedBy>Chris Woodruff</cp:lastModifiedBy>
  <cp:revision>2</cp:revision>
  <dcterms:created xsi:type="dcterms:W3CDTF">2026-06-26T15:20:29Z</dcterms:created>
  <dcterms:modified xsi:type="dcterms:W3CDTF">2026-07-06T11:25:12Z</dcterms:modified>
</cp:coreProperties>
</file>