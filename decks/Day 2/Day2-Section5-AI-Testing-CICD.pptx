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70" d="100"/>
          <a:sy n="170" d="100"/>
        </p:scale>
        <p:origin x="50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7.png"/><Relationship Id="rId7" Type="http://schemas.openxmlformats.org/officeDocument/2006/relationships/image" Target="../media/image8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9.png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17.png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10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15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640080"/>
            <a:ext cx="1005840" cy="100584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8183880" y="1463040"/>
            <a:ext cx="411480" cy="411480"/>
          </a:xfrm>
          <a:prstGeom prst="ellipse">
            <a:avLst/>
          </a:prstGeom>
          <a:solidFill>
            <a:srgbClr val="F4E4D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932688"/>
            <a:ext cx="457200" cy="3840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1371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5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85216" y="1783080"/>
            <a:ext cx="7589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41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AI-Powered Testing</a:t>
            </a:r>
            <a:endParaRPr lang="en-US" sz="41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41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 CI/CD Integration</a:t>
            </a:r>
            <a:endParaRPr lang="en-US" sz="4100" dirty="0"/>
          </a:p>
        </p:txBody>
      </p:sp>
      <p:sp>
        <p:nvSpPr>
          <p:cNvPr id="7" name="Shape 4"/>
          <p:cNvSpPr/>
          <p:nvPr/>
        </p:nvSpPr>
        <p:spPr>
          <a:xfrm>
            <a:off x="658368" y="3493008"/>
            <a:ext cx="1005840" cy="0"/>
          </a:xfrm>
          <a:prstGeom prst="line">
            <a:avLst/>
          </a:prstGeom>
          <a:noFill/>
          <a:ln w="3175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640080" y="36118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 min  ·  20 lecture / demo  +  25 lab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LEARNING OBJECTIVES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you'll walk away able to do</a:t>
            </a:r>
            <a:endParaRPr lang="en-US" sz="25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411480"/>
            <a:ext cx="347472" cy="29260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444752"/>
            <a:ext cx="329184" cy="32918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516" y="1530340"/>
            <a:ext cx="158008" cy="15800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051560" y="141732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Generate xUnit suites with Claude Code</a:t>
            </a:r>
            <a:endParaRPr lang="en-US" sz="1600" dirty="0"/>
          </a:p>
        </p:txBody>
      </p:sp>
      <p:sp>
        <p:nvSpPr>
          <p:cNvPr id="8" name="Shape 4"/>
          <p:cNvSpPr/>
          <p:nvPr/>
        </p:nvSpPr>
        <p:spPr>
          <a:xfrm>
            <a:off x="566928" y="1901952"/>
            <a:ext cx="329184" cy="32918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516" y="1987540"/>
            <a:ext cx="158008" cy="158008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051560" y="187452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AI for edge-case analysis</a:t>
            </a:r>
            <a:endParaRPr lang="en-US" sz="1600" dirty="0"/>
          </a:p>
        </p:txBody>
      </p:sp>
      <p:sp>
        <p:nvSpPr>
          <p:cNvPr id="11" name="Shape 6"/>
          <p:cNvSpPr/>
          <p:nvPr/>
        </p:nvSpPr>
        <p:spPr>
          <a:xfrm>
            <a:off x="566928" y="2359152"/>
            <a:ext cx="329184" cy="32918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516" y="2444740"/>
            <a:ext cx="158008" cy="158008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051560" y="233172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Write integration tests with TestContainers</a:t>
            </a:r>
            <a:endParaRPr lang="en-US" sz="1600" dirty="0"/>
          </a:p>
        </p:txBody>
      </p:sp>
      <p:sp>
        <p:nvSpPr>
          <p:cNvPr id="14" name="Shape 8"/>
          <p:cNvSpPr/>
          <p:nvPr/>
        </p:nvSpPr>
        <p:spPr>
          <a:xfrm>
            <a:off x="566928" y="2816352"/>
            <a:ext cx="329184" cy="32918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516" y="2901940"/>
            <a:ext cx="158008" cy="158008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1051560" y="278892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Run Claude headless in GitHub Actions</a:t>
            </a:r>
            <a:endParaRPr lang="en-US" sz="1600" dirty="0"/>
          </a:p>
        </p:txBody>
      </p:sp>
      <p:sp>
        <p:nvSpPr>
          <p:cNvPr id="17" name="Shape 10"/>
          <p:cNvSpPr/>
          <p:nvPr/>
        </p:nvSpPr>
        <p:spPr>
          <a:xfrm>
            <a:off x="566928" y="3273552"/>
            <a:ext cx="329184" cy="32918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516" y="3359140"/>
            <a:ext cx="158008" cy="158008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1051560" y="324612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Automate AI code review on PRs</a:t>
            </a:r>
            <a:endParaRPr lang="en-US" sz="1600" dirty="0"/>
          </a:p>
        </p:txBody>
      </p:sp>
      <p:sp>
        <p:nvSpPr>
          <p:cNvPr id="20" name="Shape 12"/>
          <p:cNvSpPr/>
          <p:nvPr/>
        </p:nvSpPr>
        <p:spPr>
          <a:xfrm>
            <a:off x="566928" y="3730752"/>
            <a:ext cx="329184" cy="32918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1" name="Image 6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516" y="3816340"/>
            <a:ext cx="158008" cy="158008"/>
          </a:xfrm>
          <a:prstGeom prst="rect">
            <a:avLst/>
          </a:prstGeom>
        </p:spPr>
      </p:pic>
      <p:sp>
        <p:nvSpPr>
          <p:cNvPr id="22" name="Text 13"/>
          <p:cNvSpPr/>
          <p:nvPr/>
        </p:nvSpPr>
        <p:spPr>
          <a:xfrm>
            <a:off x="1051560" y="370332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Generate release notes with AI</a:t>
            </a:r>
            <a:endParaRPr lang="en-US" sz="1600" dirty="0"/>
          </a:p>
        </p:txBody>
      </p:sp>
      <p:sp>
        <p:nvSpPr>
          <p:cNvPr id="23" name="Text 14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4" name="Text 15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5  ·  2/11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Describe what to test, not how</a:t>
            </a:r>
            <a:endParaRPr lang="en-US" sz="25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411480"/>
            <a:ext cx="347472" cy="29260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417320"/>
            <a:ext cx="8046720" cy="822960"/>
          </a:xfrm>
          <a:prstGeom prst="roundRect">
            <a:avLst>
              <a:gd name="adj" fmla="val 11111"/>
            </a:avLst>
          </a:prstGeom>
          <a:solidFill>
            <a:srgbClr val="F4E4D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804672" y="1591056"/>
            <a:ext cx="457200" cy="45720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544" y="1709928"/>
            <a:ext cx="219456" cy="21945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463040" y="141732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 reads the implementation </a:t>
            </a:r>
            <a:r>
              <a:rPr lang="en-US" sz="15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 you describe the cases, it writes the xUnit.</a:t>
            </a:r>
            <a:endParaRPr lang="en-US" sz="1500" dirty="0"/>
          </a:p>
        </p:txBody>
      </p:sp>
      <p:sp>
        <p:nvSpPr>
          <p:cNvPr id="9" name="Shape 5"/>
          <p:cNvSpPr/>
          <p:nvPr/>
        </p:nvSpPr>
        <p:spPr>
          <a:xfrm>
            <a:off x="548640" y="2423160"/>
            <a:ext cx="3931920" cy="640080"/>
          </a:xfrm>
          <a:prstGeom prst="roundRect">
            <a:avLst>
              <a:gd name="adj" fmla="val 10000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6"/>
          <p:cNvSpPr/>
          <p:nvPr/>
        </p:nvSpPr>
        <p:spPr>
          <a:xfrm>
            <a:off x="694944" y="2542032"/>
            <a:ext cx="402336" cy="402336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9551" y="2646639"/>
            <a:ext cx="193121" cy="193121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325880" y="2496312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Happy path</a:t>
            </a:r>
            <a:endParaRPr lang="en-US" sz="1400" dirty="0"/>
          </a:p>
        </p:txBody>
      </p:sp>
      <p:sp>
        <p:nvSpPr>
          <p:cNvPr id="13" name="Text 8"/>
          <p:cNvSpPr/>
          <p:nvPr/>
        </p:nvSpPr>
        <p:spPr>
          <a:xfrm>
            <a:off x="1325880" y="2770632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normal, expected flow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4663440" y="2423160"/>
            <a:ext cx="3931920" cy="640080"/>
          </a:xfrm>
          <a:prstGeom prst="roundRect">
            <a:avLst>
              <a:gd name="adj" fmla="val 10000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0"/>
          <p:cNvSpPr/>
          <p:nvPr/>
        </p:nvSpPr>
        <p:spPr>
          <a:xfrm>
            <a:off x="4809744" y="2542032"/>
            <a:ext cx="402336" cy="402336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14351" y="2646639"/>
            <a:ext cx="193121" cy="193121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5440680" y="2496312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Multi-tool</a:t>
            </a:r>
            <a:endParaRPr lang="en-US" sz="1400" dirty="0"/>
          </a:p>
        </p:txBody>
      </p:sp>
      <p:sp>
        <p:nvSpPr>
          <p:cNvPr id="18" name="Text 12"/>
          <p:cNvSpPr/>
          <p:nvPr/>
        </p:nvSpPr>
        <p:spPr>
          <a:xfrm>
            <a:off x="5440680" y="2770632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Several tool calls in one turn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548640" y="3191256"/>
            <a:ext cx="3931920" cy="640080"/>
          </a:xfrm>
          <a:prstGeom prst="roundRect">
            <a:avLst>
              <a:gd name="adj" fmla="val 10000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4"/>
          <p:cNvSpPr/>
          <p:nvPr/>
        </p:nvSpPr>
        <p:spPr>
          <a:xfrm>
            <a:off x="694944" y="3310128"/>
            <a:ext cx="402336" cy="402336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9551" y="3414735"/>
            <a:ext cx="193121" cy="193121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1325880" y="3264408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 error</a:t>
            </a:r>
            <a:endParaRPr lang="en-US" sz="1400" dirty="0"/>
          </a:p>
        </p:txBody>
      </p:sp>
      <p:sp>
        <p:nvSpPr>
          <p:cNvPr id="23" name="Text 16"/>
          <p:cNvSpPr/>
          <p:nvPr/>
        </p:nvSpPr>
        <p:spPr>
          <a:xfrm>
            <a:off x="1325880" y="3538728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tool throws or returns an error</a:t>
            </a:r>
            <a:endParaRPr lang="en-US" sz="1100" dirty="0"/>
          </a:p>
        </p:txBody>
      </p:sp>
      <p:sp>
        <p:nvSpPr>
          <p:cNvPr id="24" name="Shape 17"/>
          <p:cNvSpPr/>
          <p:nvPr/>
        </p:nvSpPr>
        <p:spPr>
          <a:xfrm>
            <a:off x="4663440" y="3191256"/>
            <a:ext cx="3931920" cy="640080"/>
          </a:xfrm>
          <a:prstGeom prst="roundRect">
            <a:avLst>
              <a:gd name="adj" fmla="val 10000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18"/>
          <p:cNvSpPr/>
          <p:nvPr/>
        </p:nvSpPr>
        <p:spPr>
          <a:xfrm>
            <a:off x="4809744" y="3310128"/>
            <a:ext cx="402336" cy="402336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6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14351" y="3414735"/>
            <a:ext cx="193121" cy="193121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5440680" y="3264408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CancellationToken</a:t>
            </a:r>
            <a:endParaRPr lang="en-US" sz="1400" dirty="0"/>
          </a:p>
        </p:txBody>
      </p:sp>
      <p:sp>
        <p:nvSpPr>
          <p:cNvPr id="28" name="Text 20"/>
          <p:cNvSpPr/>
          <p:nvPr/>
        </p:nvSpPr>
        <p:spPr>
          <a:xfrm>
            <a:off x="5440680" y="3538728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request is cancelled mid-flight</a:t>
            </a:r>
            <a:endParaRPr lang="en-US" sz="1100" dirty="0"/>
          </a:p>
        </p:txBody>
      </p:sp>
      <p:sp>
        <p:nvSpPr>
          <p:cNvPr id="29" name="Text 21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30" name="Text 22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5  ·  3/11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FIND WHAT YOU'D MISS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adversarial test engineer</a:t>
            </a:r>
            <a:endParaRPr lang="en-US" sz="25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411480"/>
            <a:ext cx="347472" cy="29260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417320"/>
            <a:ext cx="8046720" cy="777240"/>
          </a:xfrm>
          <a:prstGeom prst="roundRect">
            <a:avLst>
              <a:gd name="adj" fmla="val 11765"/>
            </a:avLst>
          </a:prstGeom>
          <a:solidFill>
            <a:srgbClr val="F4E4DC"/>
          </a:solidFill>
          <a:ln/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804672" y="1572768"/>
            <a:ext cx="457200" cy="45720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544" y="1691640"/>
            <a:ext cx="219456" cy="21945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463040" y="1417320"/>
            <a:ext cx="6949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Prompt Claude to attack its own code — surface the failures you wouldn't think of.</a:t>
            </a:r>
            <a:endParaRPr lang="en-US" sz="1450" dirty="0"/>
          </a:p>
        </p:txBody>
      </p:sp>
      <p:sp>
        <p:nvSpPr>
          <p:cNvPr id="9" name="Shape 5"/>
          <p:cNvSpPr/>
          <p:nvPr/>
        </p:nvSpPr>
        <p:spPr>
          <a:xfrm>
            <a:off x="548640" y="2395728"/>
            <a:ext cx="3931920" cy="475488"/>
          </a:xfrm>
          <a:prstGeom prst="roundRect">
            <a:avLst>
              <a:gd name="adj" fmla="val 13462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6"/>
          <p:cNvSpPr/>
          <p:nvPr/>
        </p:nvSpPr>
        <p:spPr>
          <a:xfrm>
            <a:off x="676656" y="2487168"/>
            <a:ext cx="292608" cy="292608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734" y="2563246"/>
            <a:ext cx="140452" cy="140452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261872" y="2395728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Null messages</a:t>
            </a:r>
            <a:endParaRPr lang="en-US" sz="1350" dirty="0"/>
          </a:p>
        </p:txBody>
      </p:sp>
      <p:sp>
        <p:nvSpPr>
          <p:cNvPr id="13" name="Shape 8"/>
          <p:cNvSpPr/>
          <p:nvPr/>
        </p:nvSpPr>
        <p:spPr>
          <a:xfrm>
            <a:off x="4663440" y="2395728"/>
            <a:ext cx="3931920" cy="475488"/>
          </a:xfrm>
          <a:prstGeom prst="roundRect">
            <a:avLst>
              <a:gd name="adj" fmla="val 13462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9"/>
          <p:cNvSpPr/>
          <p:nvPr/>
        </p:nvSpPr>
        <p:spPr>
          <a:xfrm>
            <a:off x="4791456" y="2487168"/>
            <a:ext cx="292608" cy="292608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67534" y="2563246"/>
            <a:ext cx="140452" cy="140452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5376672" y="2395728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Rate-limit handling</a:t>
            </a:r>
            <a:endParaRPr lang="en-US" sz="1350" dirty="0"/>
          </a:p>
        </p:txBody>
      </p:sp>
      <p:sp>
        <p:nvSpPr>
          <p:cNvPr id="17" name="Shape 11"/>
          <p:cNvSpPr/>
          <p:nvPr/>
        </p:nvSpPr>
        <p:spPr>
          <a:xfrm>
            <a:off x="548640" y="2980944"/>
            <a:ext cx="3931920" cy="475488"/>
          </a:xfrm>
          <a:prstGeom prst="roundRect">
            <a:avLst>
              <a:gd name="adj" fmla="val 13462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2"/>
          <p:cNvSpPr/>
          <p:nvPr/>
        </p:nvSpPr>
        <p:spPr>
          <a:xfrm>
            <a:off x="676656" y="3072384"/>
            <a:ext cx="292608" cy="292608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2734" y="3148462"/>
            <a:ext cx="140452" cy="140452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1261872" y="2980944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Session collision</a:t>
            </a:r>
            <a:endParaRPr lang="en-US" sz="1350" dirty="0"/>
          </a:p>
        </p:txBody>
      </p:sp>
      <p:sp>
        <p:nvSpPr>
          <p:cNvPr id="21" name="Shape 14"/>
          <p:cNvSpPr/>
          <p:nvPr/>
        </p:nvSpPr>
        <p:spPr>
          <a:xfrm>
            <a:off x="4663440" y="2980944"/>
            <a:ext cx="3931920" cy="475488"/>
          </a:xfrm>
          <a:prstGeom prst="roundRect">
            <a:avLst>
              <a:gd name="adj" fmla="val 13462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15"/>
          <p:cNvSpPr/>
          <p:nvPr/>
        </p:nvSpPr>
        <p:spPr>
          <a:xfrm>
            <a:off x="4791456" y="3072384"/>
            <a:ext cx="292608" cy="292608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67534" y="3148462"/>
            <a:ext cx="140452" cy="140452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5376672" y="2980944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Deserialization failures</a:t>
            </a:r>
            <a:endParaRPr lang="en-US" sz="1350" dirty="0"/>
          </a:p>
        </p:txBody>
      </p:sp>
      <p:sp>
        <p:nvSpPr>
          <p:cNvPr id="25" name="Shape 17"/>
          <p:cNvSpPr/>
          <p:nvPr/>
        </p:nvSpPr>
        <p:spPr>
          <a:xfrm>
            <a:off x="548640" y="3566160"/>
            <a:ext cx="3931920" cy="475488"/>
          </a:xfrm>
          <a:prstGeom prst="roundRect">
            <a:avLst>
              <a:gd name="adj" fmla="val 13462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18"/>
          <p:cNvSpPr/>
          <p:nvPr/>
        </p:nvSpPr>
        <p:spPr>
          <a:xfrm>
            <a:off x="676656" y="3657600"/>
            <a:ext cx="292608" cy="292608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7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2734" y="3733678"/>
            <a:ext cx="140452" cy="140452"/>
          </a:xfrm>
          <a:prstGeom prst="rect">
            <a:avLst/>
          </a:prstGeom>
        </p:spPr>
      </p:pic>
      <p:sp>
        <p:nvSpPr>
          <p:cNvPr id="28" name="Text 19"/>
          <p:cNvSpPr/>
          <p:nvPr/>
        </p:nvSpPr>
        <p:spPr>
          <a:xfrm>
            <a:off x="1261872" y="3566160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Missing CancellationTokens</a:t>
            </a:r>
            <a:endParaRPr lang="en-US" sz="1350" dirty="0"/>
          </a:p>
        </p:txBody>
      </p:sp>
      <p:sp>
        <p:nvSpPr>
          <p:cNvPr id="29" name="Text 20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30" name="Text 21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5  ·  4/11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INTEGRATION TESTS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TestContainers — no mocks</a:t>
            </a:r>
            <a:endParaRPr lang="en-US" sz="25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411480"/>
            <a:ext cx="347472" cy="29260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08760"/>
            <a:ext cx="640080" cy="64008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061" y="1675181"/>
            <a:ext cx="307238" cy="30723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417320" y="1481328"/>
            <a:ext cx="7223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Real </a:t>
            </a:r>
            <a:r>
              <a:rPr lang="en-US" sz="2200" b="1" dirty="0">
                <a:solidFill>
                  <a:srgbClr val="C25E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SQL Server</a:t>
            </a:r>
            <a:r>
              <a:rPr lang="en-US" sz="22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+ real </a:t>
            </a:r>
            <a:r>
              <a:rPr lang="en-US" sz="2200" b="1" dirty="0">
                <a:solidFill>
                  <a:srgbClr val="C25E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Qdrant</a:t>
            </a:r>
            <a:r>
              <a:rPr lang="en-US" sz="22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 Docker.</a:t>
            </a:r>
            <a:endParaRPr lang="en-US" sz="2200" dirty="0"/>
          </a:p>
        </p:txBody>
      </p:sp>
      <p:sp>
        <p:nvSpPr>
          <p:cNvPr id="8" name="Shape 4"/>
          <p:cNvSpPr/>
          <p:nvPr/>
        </p:nvSpPr>
        <p:spPr>
          <a:xfrm>
            <a:off x="548640" y="2331720"/>
            <a:ext cx="8046720" cy="566928"/>
          </a:xfrm>
          <a:prstGeom prst="roundRect">
            <a:avLst>
              <a:gd name="adj" fmla="val 11290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5"/>
          <p:cNvSpPr/>
          <p:nvPr/>
        </p:nvSpPr>
        <p:spPr>
          <a:xfrm>
            <a:off x="749808" y="2404872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170" y="2514234"/>
            <a:ext cx="201900" cy="20190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325880" y="2331720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 SQL Server</a:t>
            </a:r>
            <a:endParaRPr lang="en-US" sz="1450" dirty="0"/>
          </a:p>
        </p:txBody>
      </p:sp>
      <p:sp>
        <p:nvSpPr>
          <p:cNvPr id="12" name="Text 7"/>
          <p:cNvSpPr/>
          <p:nvPr/>
        </p:nvSpPr>
        <p:spPr>
          <a:xfrm>
            <a:off x="4572000" y="2331720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EF Core hits an actual database</a:t>
            </a:r>
            <a:endParaRPr lang="en-US" sz="1250" dirty="0"/>
          </a:p>
        </p:txBody>
      </p:sp>
      <p:sp>
        <p:nvSpPr>
          <p:cNvPr id="13" name="Shape 8"/>
          <p:cNvSpPr/>
          <p:nvPr/>
        </p:nvSpPr>
        <p:spPr>
          <a:xfrm>
            <a:off x="548640" y="2971800"/>
            <a:ext cx="8046720" cy="566928"/>
          </a:xfrm>
          <a:prstGeom prst="roundRect">
            <a:avLst>
              <a:gd name="adj" fmla="val 11290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9"/>
          <p:cNvSpPr/>
          <p:nvPr/>
        </p:nvSpPr>
        <p:spPr>
          <a:xfrm>
            <a:off x="749808" y="3044952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9170" y="3154314"/>
            <a:ext cx="201900" cy="20190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1325880" y="2971800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 Qdrant</a:t>
            </a:r>
            <a:endParaRPr lang="en-US" sz="1450" dirty="0"/>
          </a:p>
        </p:txBody>
      </p:sp>
      <p:sp>
        <p:nvSpPr>
          <p:cNvPr id="17" name="Text 11"/>
          <p:cNvSpPr/>
          <p:nvPr/>
        </p:nvSpPr>
        <p:spPr>
          <a:xfrm>
            <a:off x="4572000" y="2971800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Vector queries run end to end</a:t>
            </a:r>
            <a:endParaRPr lang="en-US" sz="1250" dirty="0"/>
          </a:p>
        </p:txBody>
      </p:sp>
      <p:sp>
        <p:nvSpPr>
          <p:cNvPr id="18" name="Shape 12"/>
          <p:cNvSpPr/>
          <p:nvPr/>
        </p:nvSpPr>
        <p:spPr>
          <a:xfrm>
            <a:off x="548640" y="3611880"/>
            <a:ext cx="8046720" cy="566928"/>
          </a:xfrm>
          <a:prstGeom prst="roundRect">
            <a:avLst>
              <a:gd name="adj" fmla="val 11290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3"/>
          <p:cNvSpPr/>
          <p:nvPr/>
        </p:nvSpPr>
        <p:spPr>
          <a:xfrm>
            <a:off x="749808" y="3685032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9170" y="3794394"/>
            <a:ext cx="201900" cy="20190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1325880" y="3611880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mocks</a:t>
            </a:r>
            <a:endParaRPr lang="en-US" sz="1450" dirty="0"/>
          </a:p>
        </p:txBody>
      </p:sp>
      <p:sp>
        <p:nvSpPr>
          <p:cNvPr id="22" name="Text 15"/>
          <p:cNvSpPr/>
          <p:nvPr/>
        </p:nvSpPr>
        <p:spPr>
          <a:xfrm>
            <a:off x="4572000" y="3611880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Tests exercise the true integration</a:t>
            </a:r>
            <a:endParaRPr lang="en-US" sz="1250" dirty="0"/>
          </a:p>
        </p:txBody>
      </p:sp>
      <p:sp>
        <p:nvSpPr>
          <p:cNvPr id="23" name="Text 16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4" name="Text 17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5  ·  5/11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CI/CD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Claude Code in GitHub Actions</a:t>
            </a:r>
            <a:endParaRPr lang="en-US" sz="25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411480"/>
            <a:ext cx="347472" cy="29260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7492" y="1417320"/>
            <a:ext cx="2514600" cy="1371600"/>
          </a:xfrm>
          <a:prstGeom prst="roundRect">
            <a:avLst>
              <a:gd name="adj" fmla="val 6667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1536192" y="1618488"/>
            <a:ext cx="457200" cy="45720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55064" y="1737360"/>
            <a:ext cx="219456" cy="21945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07492" y="2167128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 diff</a:t>
            </a:r>
            <a:endParaRPr lang="en-US" sz="1450" dirty="0"/>
          </a:p>
        </p:txBody>
      </p:sp>
      <p:sp>
        <p:nvSpPr>
          <p:cNvPr id="9" name="Text 5"/>
          <p:cNvSpPr/>
          <p:nvPr/>
        </p:nvSpPr>
        <p:spPr>
          <a:xfrm>
            <a:off x="507492" y="2441448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Headless review</a:t>
            </a:r>
            <a:endParaRPr lang="en-US" sz="1150" dirty="0"/>
          </a:p>
        </p:txBody>
      </p:sp>
      <p:sp>
        <p:nvSpPr>
          <p:cNvPr id="10" name="Text 6"/>
          <p:cNvSpPr/>
          <p:nvPr/>
        </p:nvSpPr>
        <p:spPr>
          <a:xfrm>
            <a:off x="3022092" y="1828800"/>
            <a:ext cx="292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2000" dirty="0"/>
          </a:p>
        </p:txBody>
      </p:sp>
      <p:sp>
        <p:nvSpPr>
          <p:cNvPr id="11" name="Shape 7"/>
          <p:cNvSpPr/>
          <p:nvPr/>
        </p:nvSpPr>
        <p:spPr>
          <a:xfrm>
            <a:off x="3314700" y="1417320"/>
            <a:ext cx="2514600" cy="1371600"/>
          </a:xfrm>
          <a:prstGeom prst="roundRect">
            <a:avLst>
              <a:gd name="adj" fmla="val 6667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8"/>
          <p:cNvSpPr/>
          <p:nvPr/>
        </p:nvSpPr>
        <p:spPr>
          <a:xfrm>
            <a:off x="4343400" y="1618488"/>
            <a:ext cx="457200" cy="45720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62272" y="1737360"/>
            <a:ext cx="219456" cy="21945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314700" y="2167128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Format as GFM</a:t>
            </a:r>
            <a:endParaRPr lang="en-US" sz="1450" dirty="0"/>
          </a:p>
        </p:txBody>
      </p:sp>
      <p:sp>
        <p:nvSpPr>
          <p:cNvPr id="15" name="Text 10"/>
          <p:cNvSpPr/>
          <p:nvPr/>
        </p:nvSpPr>
        <p:spPr>
          <a:xfrm>
            <a:off x="3314700" y="2441448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Markdown comment</a:t>
            </a:r>
            <a:endParaRPr lang="en-US" sz="1150" dirty="0"/>
          </a:p>
        </p:txBody>
      </p:sp>
      <p:sp>
        <p:nvSpPr>
          <p:cNvPr id="16" name="Text 11"/>
          <p:cNvSpPr/>
          <p:nvPr/>
        </p:nvSpPr>
        <p:spPr>
          <a:xfrm>
            <a:off x="5829300" y="1828800"/>
            <a:ext cx="292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2000" dirty="0"/>
          </a:p>
        </p:txBody>
      </p:sp>
      <p:sp>
        <p:nvSpPr>
          <p:cNvPr id="17" name="Shape 12"/>
          <p:cNvSpPr/>
          <p:nvPr/>
        </p:nvSpPr>
        <p:spPr>
          <a:xfrm>
            <a:off x="6121908" y="1417320"/>
            <a:ext cx="2514600" cy="1371600"/>
          </a:xfrm>
          <a:prstGeom prst="roundRect">
            <a:avLst>
              <a:gd name="adj" fmla="val 6667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3"/>
          <p:cNvSpPr/>
          <p:nvPr/>
        </p:nvSpPr>
        <p:spPr>
          <a:xfrm>
            <a:off x="7150608" y="1618488"/>
            <a:ext cx="457200" cy="45720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69480" y="1737360"/>
            <a:ext cx="219456" cy="219456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6121908" y="2167128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Comment on PR</a:t>
            </a:r>
            <a:endParaRPr lang="en-US" sz="1450" dirty="0"/>
          </a:p>
        </p:txBody>
      </p:sp>
      <p:sp>
        <p:nvSpPr>
          <p:cNvPr id="21" name="Text 15"/>
          <p:cNvSpPr/>
          <p:nvPr/>
        </p:nvSpPr>
        <p:spPr>
          <a:xfrm>
            <a:off x="6121908" y="2441448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Posted inline</a:t>
            </a:r>
            <a:endParaRPr lang="en-US" sz="1150" dirty="0"/>
          </a:p>
        </p:txBody>
      </p:sp>
      <p:sp>
        <p:nvSpPr>
          <p:cNvPr id="22" name="Shape 16"/>
          <p:cNvSpPr/>
          <p:nvPr/>
        </p:nvSpPr>
        <p:spPr>
          <a:xfrm>
            <a:off x="548640" y="3063240"/>
            <a:ext cx="8046720" cy="1005840"/>
          </a:xfrm>
          <a:prstGeom prst="roundRect">
            <a:avLst>
              <a:gd name="adj" fmla="val 7273"/>
            </a:avLst>
          </a:prstGeom>
          <a:solidFill>
            <a:srgbClr val="1F1E1D"/>
          </a:solidFill>
          <a:ln/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Text 17"/>
          <p:cNvSpPr/>
          <p:nvPr/>
        </p:nvSpPr>
        <p:spPr>
          <a:xfrm>
            <a:off x="841248" y="3319272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9A95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cost lever: cheap model for CI reviews</a:t>
            </a:r>
            <a:endParaRPr lang="en-US" sz="1300" dirty="0"/>
          </a:p>
          <a:p>
            <a:pPr marL="0" indent="0">
              <a:lnSpc>
                <a:spcPct val="128000"/>
              </a:lnSpc>
              <a:buNone/>
            </a:pPr>
            <a:r>
              <a:rPr lang="en-US" sz="1300" b="1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r>
              <a:rPr lang="en-US" sz="13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--model </a:t>
            </a:r>
            <a:r>
              <a:rPr lang="en-US" sz="1300" dirty="0">
                <a:solidFill>
                  <a:srgbClr val="E0A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claude-haiku-4-5</a:t>
            </a:r>
            <a:r>
              <a:rPr lang="en-US" sz="13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-p </a:t>
            </a:r>
            <a:r>
              <a:rPr lang="en-US" sz="1300" dirty="0">
                <a:solidFill>
                  <a:srgbClr val="E0A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"review the diff"</a:t>
            </a:r>
            <a:endParaRPr lang="en-US" sz="1300" dirty="0"/>
          </a:p>
        </p:txBody>
      </p:sp>
      <p:sp>
        <p:nvSpPr>
          <p:cNvPr id="24" name="Text 18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5  ·  6/11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 TAG PUSH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Automated release notes</a:t>
            </a:r>
            <a:endParaRPr lang="en-US" sz="25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411480"/>
            <a:ext cx="347472" cy="29260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371600"/>
            <a:ext cx="4206240" cy="1481328"/>
          </a:xfrm>
          <a:prstGeom prst="roundRect">
            <a:avLst>
              <a:gd name="adj" fmla="val 4938"/>
            </a:avLst>
          </a:prstGeom>
          <a:solidFill>
            <a:srgbClr val="1F1E1D"/>
          </a:solidFill>
          <a:ln/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822960" y="151790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5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trigger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841248" y="1828800"/>
            <a:ext cx="3657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on: push:</a:t>
            </a:r>
            <a:endParaRPr lang="en-US" sz="1250" dirty="0"/>
          </a:p>
          <a:p>
            <a:pPr marL="0" indent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tags: [ </a:t>
            </a:r>
            <a:r>
              <a:rPr lang="en-US" sz="1250" dirty="0">
                <a:solidFill>
                  <a:srgbClr val="E0A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"v*"</a:t>
            </a:r>
            <a:r>
              <a:rPr lang="en-US" sz="12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]</a:t>
            </a:r>
            <a:endParaRPr lang="en-US" sz="1250" dirty="0"/>
          </a:p>
          <a:p>
            <a:pPr marL="0" indent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9A95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git log → Claude → notes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5029200" y="1371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GROUPED INTO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029200" y="1691640"/>
            <a:ext cx="365760" cy="36576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4298" y="1786738"/>
            <a:ext cx="175565" cy="175565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541264" y="16916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What's New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5029200" y="2194560"/>
            <a:ext cx="365760" cy="36576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4298" y="2289658"/>
            <a:ext cx="175565" cy="175565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541264" y="21945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Bug Fixes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5029200" y="2697480"/>
            <a:ext cx="365760" cy="36576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24298" y="2792578"/>
            <a:ext cx="175565" cy="175565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5541264" y="26974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Breaking Changes</a:t>
            </a:r>
            <a:endParaRPr lang="en-US" sz="1400" dirty="0"/>
          </a:p>
        </p:txBody>
      </p:sp>
      <p:sp>
        <p:nvSpPr>
          <p:cNvPr id="18" name="Shape 12"/>
          <p:cNvSpPr/>
          <p:nvPr/>
        </p:nvSpPr>
        <p:spPr>
          <a:xfrm>
            <a:off x="5029200" y="3200400"/>
            <a:ext cx="365760" cy="36576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24298" y="3295498"/>
            <a:ext cx="175565" cy="175565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5541264" y="32004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Developer Notes</a:t>
            </a:r>
            <a:endParaRPr lang="en-US" sz="1400" dirty="0"/>
          </a:p>
        </p:txBody>
      </p:sp>
      <p:sp>
        <p:nvSpPr>
          <p:cNvPr id="21" name="Shape 14"/>
          <p:cNvSpPr/>
          <p:nvPr/>
        </p:nvSpPr>
        <p:spPr>
          <a:xfrm>
            <a:off x="548640" y="3200400"/>
            <a:ext cx="4206240" cy="868680"/>
          </a:xfrm>
          <a:prstGeom prst="roundRect">
            <a:avLst>
              <a:gd name="adj" fmla="val 10526"/>
            </a:avLst>
          </a:prstGeom>
          <a:solidFill>
            <a:srgbClr val="F4E4D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15"/>
          <p:cNvSpPr/>
          <p:nvPr/>
        </p:nvSpPr>
        <p:spPr>
          <a:xfrm>
            <a:off x="777240" y="320040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the git log</a:t>
            </a:r>
            <a:endParaRPr lang="en-US" sz="1400" dirty="0"/>
          </a:p>
          <a:p>
            <a:pPr marL="0" indent="0">
              <a:buNone/>
            </a:pPr>
            <a:r>
              <a:rPr lang="en-US" sz="12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 turns raw commits into readable notes.</a:t>
            </a:r>
            <a:endParaRPr lang="en-US" sz="1400" dirty="0"/>
          </a:p>
        </p:txBody>
      </p:sp>
      <p:sp>
        <p:nvSpPr>
          <p:cNvPr id="23" name="Text 16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4" name="Text 17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5  ·  7/11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TIE-IN TO DAY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CI review is a skill</a:t>
            </a:r>
            <a:endParaRPr lang="en-US" sz="25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411480"/>
            <a:ext cx="347472" cy="29260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417320"/>
            <a:ext cx="8046720" cy="1005840"/>
          </a:xfrm>
          <a:prstGeom prst="roundRect">
            <a:avLst>
              <a:gd name="adj" fmla="val 10909"/>
            </a:avLst>
          </a:prstGeom>
          <a:solidFill>
            <a:srgbClr val="F4E4DC"/>
          </a:solidFill>
          <a:ln/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841248" y="1691640"/>
            <a:ext cx="502920" cy="50292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2007" y="1822399"/>
            <a:ext cx="241402" cy="24140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572768" y="1417320"/>
            <a:ext cx="6766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.claude/skills/ code-review skill </a:t>
            </a:r>
            <a:r>
              <a:rPr lang="en-US" sz="16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run locally with /code-review.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566928" y="2697480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290" y="2806842"/>
            <a:ext cx="201900" cy="20190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133856" y="266090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Write it once</a:t>
            </a:r>
            <a:endParaRPr lang="en-US" sz="1400" dirty="0"/>
          </a:p>
        </p:txBody>
      </p:sp>
      <p:sp>
        <p:nvSpPr>
          <p:cNvPr id="12" name="Text 7"/>
          <p:cNvSpPr/>
          <p:nvPr/>
        </p:nvSpPr>
        <p:spPr>
          <a:xfrm>
            <a:off x="5074920" y="2660904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skill runs locally and in CI</a:t>
            </a:r>
            <a:endParaRPr lang="en-US" sz="1150" dirty="0"/>
          </a:p>
        </p:txBody>
      </p:sp>
      <p:sp>
        <p:nvSpPr>
          <p:cNvPr id="13" name="Shape 8"/>
          <p:cNvSpPr/>
          <p:nvPr/>
        </p:nvSpPr>
        <p:spPr>
          <a:xfrm>
            <a:off x="566928" y="3200400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290" y="3309762"/>
            <a:ext cx="201900" cy="20190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133856" y="316382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 invocations</a:t>
            </a:r>
            <a:endParaRPr lang="en-US" sz="1400" dirty="0"/>
          </a:p>
        </p:txBody>
      </p:sp>
      <p:sp>
        <p:nvSpPr>
          <p:cNvPr id="16" name="Text 10"/>
          <p:cNvSpPr/>
          <p:nvPr/>
        </p:nvSpPr>
        <p:spPr>
          <a:xfrm>
            <a:off x="5074920" y="3163824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Register a PreToolUse hook to record use</a:t>
            </a:r>
            <a:endParaRPr lang="en-US" sz="1150" dirty="0"/>
          </a:p>
        </p:txBody>
      </p:sp>
      <p:sp>
        <p:nvSpPr>
          <p:cNvPr id="17" name="Shape 11"/>
          <p:cNvSpPr/>
          <p:nvPr/>
        </p:nvSpPr>
        <p:spPr>
          <a:xfrm>
            <a:off x="566928" y="3703320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6290" y="3812682"/>
            <a:ext cx="201900" cy="20190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1133856" y="366674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Find under-triggering</a:t>
            </a:r>
            <a:endParaRPr lang="en-US" sz="1400" dirty="0"/>
          </a:p>
        </p:txBody>
      </p:sp>
      <p:sp>
        <p:nvSpPr>
          <p:cNvPr id="20" name="Text 13"/>
          <p:cNvSpPr/>
          <p:nvPr/>
        </p:nvSpPr>
        <p:spPr>
          <a:xfrm>
            <a:off x="5074920" y="3666744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Anthropic spots skills that miss</a:t>
            </a:r>
            <a:endParaRPr lang="en-US" sz="1150" dirty="0"/>
          </a:p>
        </p:txBody>
      </p:sp>
      <p:sp>
        <p:nvSpPr>
          <p:cNvPr id="21" name="Text 14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2" name="Text 15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5  ·  8/11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411480"/>
            <a:ext cx="347472" cy="2926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822960"/>
            <a:ext cx="3200400" cy="54864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1"/>
          <p:cNvSpPr/>
          <p:nvPr/>
        </p:nvSpPr>
        <p:spPr>
          <a:xfrm>
            <a:off x="804672" y="1014984"/>
            <a:ext cx="164592" cy="164592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1051560" y="82296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kern="0" spc="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DEMO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548640" y="16002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Generated tests + CI review on a PR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548640" y="2075688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a fresh test suite to an automated PR comment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66928" y="2670048"/>
            <a:ext cx="274320" cy="274320"/>
          </a:xfrm>
          <a:prstGeom prst="ellipse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251" y="2741371"/>
            <a:ext cx="131674" cy="13167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960120" y="2651760"/>
            <a:ext cx="7406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Generate a test suite for AgentService</a:t>
            </a:r>
            <a:endParaRPr lang="en-US" sz="1450" dirty="0"/>
          </a:p>
        </p:txBody>
      </p:sp>
      <p:sp>
        <p:nvSpPr>
          <p:cNvPr id="11" name="Shape 7"/>
          <p:cNvSpPr/>
          <p:nvPr/>
        </p:nvSpPr>
        <p:spPr>
          <a:xfrm>
            <a:off x="566928" y="3054096"/>
            <a:ext cx="274320" cy="274320"/>
          </a:xfrm>
          <a:prstGeom prst="ellipse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251" y="3125419"/>
            <a:ext cx="131674" cy="13167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960120" y="3035808"/>
            <a:ext cx="7406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a PR and let Actions run</a:t>
            </a:r>
            <a:endParaRPr lang="en-US" sz="1450" dirty="0"/>
          </a:p>
        </p:txBody>
      </p:sp>
      <p:sp>
        <p:nvSpPr>
          <p:cNvPr id="14" name="Shape 9"/>
          <p:cNvSpPr/>
          <p:nvPr/>
        </p:nvSpPr>
        <p:spPr>
          <a:xfrm>
            <a:off x="566928" y="3438144"/>
            <a:ext cx="274320" cy="274320"/>
          </a:xfrm>
          <a:prstGeom prst="ellipse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251" y="3509467"/>
            <a:ext cx="131674" cy="131674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960120" y="3419856"/>
            <a:ext cx="7406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Watch Claude comment the AI review</a:t>
            </a:r>
            <a:endParaRPr lang="en-US" sz="1450" dirty="0"/>
          </a:p>
        </p:txBody>
      </p:sp>
      <p:sp>
        <p:nvSpPr>
          <p:cNvPr id="17" name="Shape 11"/>
          <p:cNvSpPr/>
          <p:nvPr/>
        </p:nvSpPr>
        <p:spPr>
          <a:xfrm>
            <a:off x="548640" y="3913632"/>
            <a:ext cx="8046720" cy="457200"/>
          </a:xfrm>
          <a:prstGeom prst="roundRect">
            <a:avLst>
              <a:gd name="adj" fmla="val 16000"/>
            </a:avLst>
          </a:prstGeom>
          <a:solidFill>
            <a:srgbClr val="F4DAD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2"/>
          <p:cNvSpPr/>
          <p:nvPr/>
        </p:nvSpPr>
        <p:spPr>
          <a:xfrm>
            <a:off x="777240" y="3913632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C0392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Watch for it:  </a:t>
            </a:r>
            <a:r>
              <a:rPr lang="en-US" sz="12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review comment appears on the PR with no human in the loop.</a:t>
            </a:r>
            <a:endParaRPr lang="en-US" sz="1250" dirty="0"/>
          </a:p>
        </p:txBody>
      </p:sp>
      <p:sp>
        <p:nvSpPr>
          <p:cNvPr id="19" name="Text 13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0" name="Text 14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5  ·  9/11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411480"/>
            <a:ext cx="347472" cy="2926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822960"/>
            <a:ext cx="3154680" cy="3429000"/>
          </a:xfrm>
          <a:prstGeom prst="roundRect">
            <a:avLst>
              <a:gd name="adj" fmla="val 3478"/>
            </a:avLst>
          </a:prstGeom>
          <a:solidFill>
            <a:srgbClr val="D97757"/>
          </a:solidFill>
          <a:ln/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1133856"/>
            <a:ext cx="548640" cy="54864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868680" y="1755648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LAB 5</a:t>
            </a:r>
            <a:endParaRPr lang="en-US" sz="3800" dirty="0"/>
          </a:p>
        </p:txBody>
      </p:sp>
      <p:sp>
        <p:nvSpPr>
          <p:cNvPr id="6" name="Text 2"/>
          <p:cNvSpPr/>
          <p:nvPr/>
        </p:nvSpPr>
        <p:spPr>
          <a:xfrm>
            <a:off x="868680" y="2340864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BE9E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min  ·  hands-on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886968" y="2724912"/>
            <a:ext cx="1691640" cy="0"/>
          </a:xfrm>
          <a:prstGeom prst="line">
            <a:avLst/>
          </a:prstGeom>
          <a:noFill/>
          <a:ln w="19050">
            <a:solidFill>
              <a:srgbClr val="F2C9B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4"/>
          <p:cNvSpPr/>
          <p:nvPr/>
        </p:nvSpPr>
        <p:spPr>
          <a:xfrm>
            <a:off x="868680" y="2852928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FBE9E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DELIVERABLE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68680" y="3090672"/>
            <a:ext cx="2606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tests passing + Actions AI review + release-notes job, committed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4069080" y="8412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 PARTS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4069080" y="1197864"/>
            <a:ext cx="329184" cy="329184"/>
          </a:xfrm>
          <a:prstGeom prst="ellipse">
            <a:avLst/>
          </a:prstGeom>
          <a:solidFill>
            <a:srgbClr val="F4E4D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8"/>
          <p:cNvSpPr/>
          <p:nvPr/>
        </p:nvSpPr>
        <p:spPr>
          <a:xfrm>
            <a:off x="4069080" y="11978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4526280" y="118872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Generate the xUnit test suite</a:t>
            </a:r>
            <a:endParaRPr lang="en-US" sz="1450" dirty="0"/>
          </a:p>
        </p:txBody>
      </p:sp>
      <p:sp>
        <p:nvSpPr>
          <p:cNvPr id="14" name="Shape 10"/>
          <p:cNvSpPr/>
          <p:nvPr/>
        </p:nvSpPr>
        <p:spPr>
          <a:xfrm>
            <a:off x="4069080" y="1655064"/>
            <a:ext cx="329184" cy="329184"/>
          </a:xfrm>
          <a:prstGeom prst="ellipse">
            <a:avLst/>
          </a:prstGeom>
          <a:solidFill>
            <a:srgbClr val="F4E4D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1"/>
          <p:cNvSpPr/>
          <p:nvPr/>
        </p:nvSpPr>
        <p:spPr>
          <a:xfrm>
            <a:off x="4069080" y="16550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4526280" y="164592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TestContainers test (stretch)</a:t>
            </a:r>
            <a:endParaRPr lang="en-US" sz="1450" dirty="0"/>
          </a:p>
        </p:txBody>
      </p:sp>
      <p:sp>
        <p:nvSpPr>
          <p:cNvPr id="17" name="Shape 13"/>
          <p:cNvSpPr/>
          <p:nvPr/>
        </p:nvSpPr>
        <p:spPr>
          <a:xfrm>
            <a:off x="4069080" y="2112264"/>
            <a:ext cx="329184" cy="329184"/>
          </a:xfrm>
          <a:prstGeom prst="ellipse">
            <a:avLst/>
          </a:prstGeom>
          <a:solidFill>
            <a:srgbClr val="F4E4D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4"/>
          <p:cNvSpPr/>
          <p:nvPr/>
        </p:nvSpPr>
        <p:spPr>
          <a:xfrm>
            <a:off x="4069080" y="21122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</a:t>
            </a:r>
            <a:endParaRPr lang="en-US" sz="1400" dirty="0"/>
          </a:p>
        </p:txBody>
      </p:sp>
      <p:sp>
        <p:nvSpPr>
          <p:cNvPr id="19" name="Text 15"/>
          <p:cNvSpPr/>
          <p:nvPr/>
        </p:nvSpPr>
        <p:spPr>
          <a:xfrm>
            <a:off x="4526280" y="210312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Wire AI code review in Actions</a:t>
            </a:r>
            <a:endParaRPr lang="en-US" sz="1450" dirty="0"/>
          </a:p>
        </p:txBody>
      </p:sp>
      <p:sp>
        <p:nvSpPr>
          <p:cNvPr id="20" name="Shape 16"/>
          <p:cNvSpPr/>
          <p:nvPr/>
        </p:nvSpPr>
        <p:spPr>
          <a:xfrm>
            <a:off x="4069080" y="2569464"/>
            <a:ext cx="329184" cy="329184"/>
          </a:xfrm>
          <a:prstGeom prst="ellipse">
            <a:avLst/>
          </a:prstGeom>
          <a:solidFill>
            <a:srgbClr val="F4E4D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7"/>
          <p:cNvSpPr/>
          <p:nvPr/>
        </p:nvSpPr>
        <p:spPr>
          <a:xfrm>
            <a:off x="4069080" y="25694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</a:t>
            </a:r>
            <a:endParaRPr lang="en-US" sz="1400" dirty="0"/>
          </a:p>
        </p:txBody>
      </p:sp>
      <p:sp>
        <p:nvSpPr>
          <p:cNvPr id="22" name="Text 18"/>
          <p:cNvSpPr/>
          <p:nvPr/>
        </p:nvSpPr>
        <p:spPr>
          <a:xfrm>
            <a:off x="4526280" y="256032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 the release-notes job</a:t>
            </a:r>
            <a:endParaRPr lang="en-US" sz="1450" dirty="0"/>
          </a:p>
        </p:txBody>
      </p:sp>
      <p:sp>
        <p:nvSpPr>
          <p:cNvPr id="23" name="Shape 19"/>
          <p:cNvSpPr/>
          <p:nvPr/>
        </p:nvSpPr>
        <p:spPr>
          <a:xfrm>
            <a:off x="4069080" y="3127248"/>
            <a:ext cx="4572000" cy="1051560"/>
          </a:xfrm>
          <a:prstGeom prst="roundRect">
            <a:avLst>
              <a:gd name="adj" fmla="val 6957"/>
            </a:avLst>
          </a:prstGeom>
          <a:solidFill>
            <a:srgbClr val="F4E4D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20"/>
          <p:cNvSpPr/>
          <p:nvPr/>
        </p:nvSpPr>
        <p:spPr>
          <a:xfrm>
            <a:off x="4297680" y="3346704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5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07042" y="3456066"/>
            <a:ext cx="201900" cy="201900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4846320" y="3127248"/>
            <a:ext cx="3657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Full checkpoint on the next slide</a:t>
            </a:r>
            <a:endParaRPr lang="en-US" sz="1300" dirty="0"/>
          </a:p>
          <a:p>
            <a:pPr marL="0" indent="0">
              <a:buNone/>
            </a:pPr>
            <a:r>
              <a:rPr lang="en-US" sz="11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Five checks — tests, edge cases, CI, notes, stretch.</a:t>
            </a:r>
            <a:endParaRPr lang="en-US" sz="1300" dirty="0"/>
          </a:p>
        </p:txBody>
      </p:sp>
      <p:sp>
        <p:nvSpPr>
          <p:cNvPr id="27" name="Text 22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8" name="Text 23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5  ·  10/11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DEFINITION OF DONE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Lab 5 checkpoint</a:t>
            </a:r>
            <a:endParaRPr lang="en-US" sz="25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411480"/>
            <a:ext cx="347472" cy="29260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371600"/>
            <a:ext cx="8046720" cy="548640"/>
          </a:xfrm>
          <a:prstGeom prst="roundRect">
            <a:avLst>
              <a:gd name="adj" fmla="val 11667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713232" y="1444752"/>
            <a:ext cx="402336" cy="402336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7839" y="1549359"/>
            <a:ext cx="193121" cy="193121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325880" y="137160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Tests pass</a:t>
            </a:r>
            <a:endParaRPr lang="en-US" sz="1450" dirty="0"/>
          </a:p>
        </p:txBody>
      </p:sp>
      <p:sp>
        <p:nvSpPr>
          <p:cNvPr id="9" name="Text 5"/>
          <p:cNvSpPr/>
          <p:nvPr/>
        </p:nvSpPr>
        <p:spPr>
          <a:xfrm>
            <a:off x="5303520" y="137160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generated xUnit suite is green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548640" y="1993392"/>
            <a:ext cx="8046720" cy="548640"/>
          </a:xfrm>
          <a:prstGeom prst="roundRect">
            <a:avLst>
              <a:gd name="adj" fmla="val 11667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7"/>
          <p:cNvSpPr/>
          <p:nvPr/>
        </p:nvSpPr>
        <p:spPr>
          <a:xfrm>
            <a:off x="713232" y="2066544"/>
            <a:ext cx="402336" cy="402336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7839" y="2171151"/>
            <a:ext cx="193121" cy="193121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25880" y="1993392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Edge-case tests added</a:t>
            </a:r>
            <a:endParaRPr lang="en-US" sz="1450" dirty="0"/>
          </a:p>
        </p:txBody>
      </p:sp>
      <p:sp>
        <p:nvSpPr>
          <p:cNvPr id="14" name="Text 9"/>
          <p:cNvSpPr/>
          <p:nvPr/>
        </p:nvSpPr>
        <p:spPr>
          <a:xfrm>
            <a:off x="5303520" y="1993392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Adversarial scenarios covered</a:t>
            </a:r>
            <a:endParaRPr lang="en-US" sz="1200" dirty="0"/>
          </a:p>
        </p:txBody>
      </p:sp>
      <p:sp>
        <p:nvSpPr>
          <p:cNvPr id="15" name="Shape 10"/>
          <p:cNvSpPr/>
          <p:nvPr/>
        </p:nvSpPr>
        <p:spPr>
          <a:xfrm>
            <a:off x="548640" y="2615184"/>
            <a:ext cx="8046720" cy="548640"/>
          </a:xfrm>
          <a:prstGeom prst="roundRect">
            <a:avLst>
              <a:gd name="adj" fmla="val 11667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1"/>
          <p:cNvSpPr/>
          <p:nvPr/>
        </p:nvSpPr>
        <p:spPr>
          <a:xfrm>
            <a:off x="713232" y="2688336"/>
            <a:ext cx="402336" cy="402336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7839" y="2792943"/>
            <a:ext cx="193121" cy="193121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325880" y="2615184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 runs AI review on a PR</a:t>
            </a:r>
            <a:endParaRPr lang="en-US" sz="1450" dirty="0"/>
          </a:p>
        </p:txBody>
      </p:sp>
      <p:sp>
        <p:nvSpPr>
          <p:cNvPr id="19" name="Text 13"/>
          <p:cNvSpPr/>
          <p:nvPr/>
        </p:nvSpPr>
        <p:spPr>
          <a:xfrm>
            <a:off x="5303520" y="2615184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 comments on the diff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548640" y="3236976"/>
            <a:ext cx="8046720" cy="548640"/>
          </a:xfrm>
          <a:prstGeom prst="roundRect">
            <a:avLst>
              <a:gd name="adj" fmla="val 11667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5"/>
          <p:cNvSpPr/>
          <p:nvPr/>
        </p:nvSpPr>
        <p:spPr>
          <a:xfrm>
            <a:off x="713232" y="3310128"/>
            <a:ext cx="402336" cy="402336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7839" y="3414735"/>
            <a:ext cx="193121" cy="193121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325880" y="3236976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Tag push produces release notes</a:t>
            </a:r>
            <a:endParaRPr lang="en-US" sz="1450" dirty="0"/>
          </a:p>
        </p:txBody>
      </p:sp>
      <p:sp>
        <p:nvSpPr>
          <p:cNvPr id="24" name="Text 17"/>
          <p:cNvSpPr/>
          <p:nvPr/>
        </p:nvSpPr>
        <p:spPr>
          <a:xfrm>
            <a:off x="5303520" y="323697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Grouped, readable output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548640" y="3858768"/>
            <a:ext cx="8046720" cy="548640"/>
          </a:xfrm>
          <a:prstGeom prst="roundRect">
            <a:avLst>
              <a:gd name="adj" fmla="val 11667"/>
            </a:avLst>
          </a:prstGeom>
          <a:solidFill>
            <a:srgbClr val="F4E4DC"/>
          </a:solidFill>
          <a:ln w="12700">
            <a:solidFill>
              <a:srgbClr val="D8D3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19"/>
          <p:cNvSpPr/>
          <p:nvPr/>
        </p:nvSpPr>
        <p:spPr>
          <a:xfrm>
            <a:off x="713232" y="3931920"/>
            <a:ext cx="402336" cy="402336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7839" y="4036527"/>
            <a:ext cx="193121" cy="193121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1325880" y="3858768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TestContainers test passes</a:t>
            </a:r>
            <a:endParaRPr lang="en-US" sz="1450" dirty="0"/>
          </a:p>
        </p:txBody>
      </p:sp>
      <p:sp>
        <p:nvSpPr>
          <p:cNvPr id="29" name="Text 21"/>
          <p:cNvSpPr/>
          <p:nvPr/>
        </p:nvSpPr>
        <p:spPr>
          <a:xfrm>
            <a:off x="5303520" y="385876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 SQL Server / Qdrant</a:t>
            </a:r>
            <a:endParaRPr lang="en-US" sz="1200" dirty="0"/>
          </a:p>
        </p:txBody>
      </p:sp>
      <p:sp>
        <p:nvSpPr>
          <p:cNvPr id="30" name="Text 22"/>
          <p:cNvSpPr/>
          <p:nvPr/>
        </p:nvSpPr>
        <p:spPr>
          <a:xfrm>
            <a:off x="7635240" y="389534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kern="0" spc="5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STRETCH</a:t>
            </a:r>
            <a:endParaRPr lang="en-US" sz="850" dirty="0"/>
          </a:p>
        </p:txBody>
      </p:sp>
      <p:sp>
        <p:nvSpPr>
          <p:cNvPr id="31" name="Text 23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32" name="Text 24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5  ·  11/11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607</Words>
  <Application>Microsoft Macintosh PowerPoint</Application>
  <PresentationFormat>On-screen Show (16:9)</PresentationFormat>
  <Paragraphs>129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Courier New</vt:lpstr>
      <vt:lpstr>Georgia</vt:lpstr>
      <vt:lpstr>Inter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Section 5 — AI-Powered Testing + CI/CD Integration</dc:title>
  <dc:subject>PptxGenJS Presentation</dc:subject>
  <dc:creator>dotnetclaude.com</dc:creator>
  <cp:lastModifiedBy>Chris Woodruff</cp:lastModifiedBy>
  <cp:revision>2</cp:revision>
  <dcterms:created xsi:type="dcterms:W3CDTF">2026-06-26T16:15:48Z</dcterms:created>
  <dcterms:modified xsi:type="dcterms:W3CDTF">2026-07-06T11:30:22Z</dcterms:modified>
</cp:coreProperties>
</file>