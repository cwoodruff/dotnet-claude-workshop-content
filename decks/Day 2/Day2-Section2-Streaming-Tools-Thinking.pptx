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1507"/>
  </p:normalViewPr>
  <p:slideViewPr>
    <p:cSldViewPr snapToGrid="0" snapToObjects="1">
      <p:cViewPr varScale="1">
        <p:scale>
          <a:sx n="137" d="100"/>
          <a:sy n="137" d="100"/>
        </p:scale>
        <p:origin x="14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828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640080"/>
            <a:ext cx="1005840" cy="10058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83880" y="146304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08" y="914400"/>
            <a:ext cx="420624" cy="420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85216" y="173736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Streaming, Tool Calling</a:t>
            </a:r>
            <a:endParaRPr lang="en-US" sz="4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Extended Thinking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658368" y="3493008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40080" y="3611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 min  ·  40 lecture / demo  +  35 lab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446227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  ·  .NET AI with Claude Workshop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walk away able to do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99616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516" y="1585204"/>
            <a:ext cx="158008" cy="1580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463040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 responses to the client with SSE</a:t>
            </a:r>
            <a:endParaRPr lang="en-US" sz="1650" dirty="0"/>
          </a:p>
        </p:txBody>
      </p:sp>
      <p:sp>
        <p:nvSpPr>
          <p:cNvPr id="8" name="Shape 4"/>
          <p:cNvSpPr/>
          <p:nvPr/>
        </p:nvSpPr>
        <p:spPr>
          <a:xfrm>
            <a:off x="566928" y="1975104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516" y="2060692"/>
            <a:ext cx="158008" cy="1580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938528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Define typed tools Claude can call</a:t>
            </a:r>
            <a:endParaRPr lang="en-US" sz="1650" dirty="0"/>
          </a:p>
        </p:txBody>
      </p:sp>
      <p:sp>
        <p:nvSpPr>
          <p:cNvPr id="11" name="Shape 6"/>
          <p:cNvSpPr/>
          <p:nvPr/>
        </p:nvSpPr>
        <p:spPr>
          <a:xfrm>
            <a:off x="566928" y="245059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516" y="2536180"/>
            <a:ext cx="158008" cy="15800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51560" y="2414016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 the agent loop</a:t>
            </a:r>
            <a:endParaRPr lang="en-US" sz="1650" dirty="0"/>
          </a:p>
        </p:txBody>
      </p:sp>
      <p:sp>
        <p:nvSpPr>
          <p:cNvPr id="14" name="Shape 8"/>
          <p:cNvSpPr/>
          <p:nvPr/>
        </p:nvSpPr>
        <p:spPr>
          <a:xfrm>
            <a:off x="566928" y="2926080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516" y="3011668"/>
            <a:ext cx="158008" cy="15800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51560" y="2889504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Wire tools to real BookTracker data</a:t>
            </a:r>
            <a:endParaRPr lang="en-US" sz="1650" dirty="0"/>
          </a:p>
        </p:txBody>
      </p:sp>
      <p:sp>
        <p:nvSpPr>
          <p:cNvPr id="17" name="Shape 10"/>
          <p:cNvSpPr/>
          <p:nvPr/>
        </p:nvSpPr>
        <p:spPr>
          <a:xfrm>
            <a:off x="566928" y="3401568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516" y="3487156"/>
            <a:ext cx="158008" cy="1580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051560" y="3364992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extended thinking &amp; weigh its cost</a:t>
            </a:r>
            <a:endParaRPr lang="en-US" sz="1650" dirty="0"/>
          </a:p>
        </p:txBody>
      </p:sp>
      <p:sp>
        <p:nvSpPr>
          <p:cNvPr id="20" name="Text 12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3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2/12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STREAMING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Perceived latency is the point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1" y="1720901"/>
            <a:ext cx="307238" cy="30723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417320" y="14813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Tokens arrive </a:t>
            </a:r>
            <a:r>
              <a:rPr lang="en-US" sz="2600" b="1" dirty="0">
                <a:solidFill>
                  <a:srgbClr val="C25E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</a:t>
            </a: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UI feels instant.</a:t>
            </a:r>
            <a:endParaRPr lang="en-US" sz="2600" dirty="0"/>
          </a:p>
        </p:txBody>
      </p:sp>
      <p:sp>
        <p:nvSpPr>
          <p:cNvPr id="8" name="Shape 4"/>
          <p:cNvSpPr/>
          <p:nvPr/>
        </p:nvSpPr>
        <p:spPr>
          <a:xfrm>
            <a:off x="548640" y="246888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822960" y="2761488"/>
            <a:ext cx="457200" cy="457200"/>
          </a:xfrm>
          <a:prstGeom prst="ellipse">
            <a:avLst/>
          </a:prstGeom>
          <a:solidFill>
            <a:srgbClr val="615C5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2880360"/>
            <a:ext cx="219456" cy="2194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63040" y="27249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streaming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841248" y="32461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 waits for the whole reply, then sees it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663440" y="246888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F4E4DC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4937760" y="2761488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632" y="2880360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577840" y="27249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streaming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4956048" y="32461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words appear in well under a second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3/12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SERVER PUSH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SSE in ASP.NET Core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5212080" cy="2880360"/>
          </a:xfrm>
          <a:prstGeom prst="roundRect">
            <a:avLst>
              <a:gd name="adj" fmla="val 2540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5179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StreamingService → endpoint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4663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Response.ContentType =</a:t>
            </a:r>
            <a:endParaRPr lang="en-US" sz="12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"text/event-stream";</a:t>
            </a:r>
            <a:endParaRPr lang="en-US" sz="12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C58F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foreach</a:t>
            </a: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(var delta in</a:t>
            </a:r>
            <a:endParaRPr lang="en-US" sz="12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svc.StreamAsync(req))</a:t>
            </a:r>
            <a:endParaRPr lang="en-US" sz="12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Response.WriteAsync(</a:t>
            </a:r>
            <a:endParaRPr lang="en-US" sz="12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</a:t>
            </a:r>
            <a:r>
              <a:rPr lang="en-US" sz="12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"data: {delta}\n\n"</a:t>
            </a: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Response.Body.FlushAsync();</a:t>
            </a:r>
            <a:endParaRPr lang="en-US" sz="12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989320" y="1417320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9172" y="1517172"/>
            <a:ext cx="184343" cy="184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19672" y="13716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text/event-stream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6519672" y="163677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 the SSE content type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989320" y="2112264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9172" y="2212116"/>
            <a:ext cx="184343" cy="18434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9672" y="206654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frames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6519672" y="23317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frame per chunk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989320" y="2807208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9172" y="2907060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519672" y="276148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Flush per chunk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6519672" y="302666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each token immediately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89320" y="3502152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9172" y="3602004"/>
            <a:ext cx="184343" cy="184343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19672" y="345643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IAsyncEnumerable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6519672" y="372160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yields Claude's deltas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4/12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 IT 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 consumption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4160520" cy="1371600"/>
          </a:xfrm>
          <a:prstGeom prst="roundRect">
            <a:avLst>
              <a:gd name="adj" fmla="val 5333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51790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curl — watch frames land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-N \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localhost:5255/api/chat/stream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2880360"/>
            <a:ext cx="4160520" cy="1234440"/>
          </a:xfrm>
          <a:prstGeom prst="roundRect">
            <a:avLst>
              <a:gd name="adj" fmla="val 5926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22960" y="302666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browser — EventSource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33375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58F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</a:t>
            </a: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EventSource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(url)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.onmessage = e =&gt;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append(e.data);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029200" y="146304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562" y="1572402"/>
            <a:ext cx="201900" cy="2019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96128" y="142646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-N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5596128" y="17099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Disables buffering — see frames live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029200" y="23317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8562" y="2441082"/>
            <a:ext cx="201900" cy="201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596128" y="229514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EventSource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5596128" y="25786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Browser's built-in SSE client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029200" y="32004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8562" y="3309762"/>
            <a:ext cx="201900" cy="2019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596128" y="316382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arrive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5596128" y="34472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Attendees watch text appear word by word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5/12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 CALLING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Defining a tool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46304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63524" y="1737360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" y="18562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6172" y="17190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781812" y="2212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stable identifier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3314700" y="146304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3570732" y="1737360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9604" y="1856232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183380" y="17190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3589020" y="2212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 &amp; when to use it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121908" y="1463040"/>
            <a:ext cx="2514600" cy="1417320"/>
          </a:xfrm>
          <a:prstGeom prst="roundRect">
            <a:avLst>
              <a:gd name="adj" fmla="val 645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6377940" y="1737360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6812" y="1856232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90588" y="17190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schema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6396228" y="221284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Typed JSON parameters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548640" y="3154680"/>
            <a:ext cx="8046720" cy="914400"/>
          </a:xfrm>
          <a:prstGeom prst="roundRect">
            <a:avLst>
              <a:gd name="adj" fmla="val 10000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822960" y="3364992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719" y="3495751"/>
            <a:ext cx="241402" cy="24140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554480" y="315468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description makes the tool reliable. </a:t>
            </a: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it like a skill description — written for the model.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6/12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MECHANISM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agent loop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67512" y="1691640"/>
            <a:ext cx="1828800" cy="1325880"/>
          </a:xfrm>
          <a:prstGeom prst="roundRect">
            <a:avLst>
              <a:gd name="adj" fmla="val 689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330452" y="1892808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1211" y="2023567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13232" y="24414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requests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713232" y="2715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tool to call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2478024" y="2103120"/>
            <a:ext cx="164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2660904" y="1691640"/>
            <a:ext cx="1828800" cy="1325880"/>
          </a:xfrm>
          <a:prstGeom prst="roundRect">
            <a:avLst>
              <a:gd name="adj" fmla="val 689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3323844" y="1892808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4603" y="2023567"/>
            <a:ext cx="241402" cy="24140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706624" y="24414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execute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2706624" y="2715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C# method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4471416" y="2103120"/>
            <a:ext cx="164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4654296" y="1691640"/>
            <a:ext cx="1828800" cy="1325880"/>
          </a:xfrm>
          <a:prstGeom prst="roundRect">
            <a:avLst>
              <a:gd name="adj" fmla="val 689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5317236" y="1892808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7995" y="2023567"/>
            <a:ext cx="241402" cy="24140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700016" y="24414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 result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4700016" y="2715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 to Claude</a:t>
            </a:r>
            <a:endParaRPr lang="en-US" sz="1050" dirty="0"/>
          </a:p>
        </p:txBody>
      </p:sp>
      <p:sp>
        <p:nvSpPr>
          <p:cNvPr id="22" name="Text 16"/>
          <p:cNvSpPr/>
          <p:nvPr/>
        </p:nvSpPr>
        <p:spPr>
          <a:xfrm>
            <a:off x="6464808" y="2103120"/>
            <a:ext cx="164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6647688" y="1691640"/>
            <a:ext cx="1828800" cy="1325880"/>
          </a:xfrm>
          <a:prstGeom prst="roundRect">
            <a:avLst>
              <a:gd name="adj" fmla="val 689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7310628" y="1892808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1387" y="2023567"/>
            <a:ext cx="241402" cy="24140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693408" y="24414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continues</a:t>
            </a:r>
            <a:endParaRPr lang="en-US" sz="1250" dirty="0"/>
          </a:p>
        </p:txBody>
      </p:sp>
      <p:sp>
        <p:nvSpPr>
          <p:cNvPr id="27" name="Text 20"/>
          <p:cNvSpPr/>
          <p:nvPr/>
        </p:nvSpPr>
        <p:spPr>
          <a:xfrm>
            <a:off x="6693408" y="2715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…or asks again</a:t>
            </a:r>
            <a:endParaRPr lang="en-US" sz="1050" dirty="0"/>
          </a:p>
        </p:txBody>
      </p:sp>
      <p:sp>
        <p:nvSpPr>
          <p:cNvPr id="28" name="Text 21"/>
          <p:cNvSpPr/>
          <p:nvPr/>
        </p:nvSpPr>
        <p:spPr>
          <a:xfrm>
            <a:off x="548640" y="31546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↻  repeats until Claude is done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5943600" y="3090672"/>
            <a:ext cx="2651760" cy="502920"/>
          </a:xfrm>
          <a:prstGeom prst="roundRect">
            <a:avLst>
              <a:gd name="adj" fmla="val 49091"/>
            </a:avLst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9632" y="3227832"/>
            <a:ext cx="219456" cy="21945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446520" y="309067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stop_reason: end_turn</a:t>
            </a:r>
            <a:endParaRPr lang="en-US" sz="1150" dirty="0"/>
          </a:p>
        </p:txBody>
      </p:sp>
      <p:sp>
        <p:nvSpPr>
          <p:cNvPr id="32" name="Shape 24"/>
          <p:cNvSpPr/>
          <p:nvPr/>
        </p:nvSpPr>
        <p:spPr>
          <a:xfrm>
            <a:off x="548640" y="374904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25"/>
          <p:cNvSpPr/>
          <p:nvPr/>
        </p:nvSpPr>
        <p:spPr>
          <a:xfrm>
            <a:off x="777240" y="37490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 it as a loop, </a:t>
            </a:r>
            <a:r>
              <a:rPr lang="en-US" sz="14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single call — keep going until end_turn.</a:t>
            </a:r>
            <a:endParaRPr lang="en-US" sz="1400" dirty="0"/>
          </a:p>
        </p:txBody>
      </p:sp>
      <p:sp>
        <p:nvSpPr>
          <p:cNvPr id="34" name="Text 26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7/12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IT REAL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Wire tools to BookTracker data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4937760" cy="2468880"/>
          </a:xfrm>
          <a:prstGeom prst="roundRect">
            <a:avLst>
              <a:gd name="adj" fmla="val 2963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51790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tool → service call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"update_progress"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)]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Task&lt;string&gt; </a:t>
            </a: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UpdateProgress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bookId, int page) =&gt;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_books.SetProgress(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bookId, page);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reads &amp; writes the real DB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715000" y="146304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362" y="157240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81928" y="142646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Look up books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281928" y="170992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 the catalog by title or id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715000" y="224028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362" y="234964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281928" y="220370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 progress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6281928" y="248716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 the reading position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715000" y="30175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4362" y="312688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281928" y="298094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acts for real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281928" y="326440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 hit BookTracker services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8/12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Guard the loop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931920" cy="2286000"/>
          </a:xfrm>
          <a:prstGeom prst="roundRect">
            <a:avLst>
              <a:gd name="adj" fmla="val 4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41248" y="1847088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894" y="1989734"/>
            <a:ext cx="263347" cy="2633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828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Max-iteration cap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1554480" y="217627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Stop runaway loops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41248" y="269748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 the round-trips; break and return when the cap is hit.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663440" y="1554480"/>
            <a:ext cx="3931920" cy="2286000"/>
          </a:xfrm>
          <a:prstGeom prst="roundRect">
            <a:avLst>
              <a:gd name="adj" fmla="val 4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956048" y="1847088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8694" y="1989734"/>
            <a:ext cx="263347" cy="26334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69280" y="1828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Per-call error handling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5669280" y="217627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 fail gracefully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4956048" y="269748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exceptions per tool; feed the error back as a result.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9/12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ADVANCED LEVER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Extended thinking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77240" y="167335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602" y="1782714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508760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to enable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4663440" y="1508760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 reasoning, multi-step planning, tricky math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386584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77240" y="255117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602" y="2660538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2386584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appears</a:t>
            </a:r>
            <a:endParaRPr lang="en-US" sz="1550" dirty="0"/>
          </a:p>
        </p:txBody>
      </p:sp>
      <p:sp>
        <p:nvSpPr>
          <p:cNvPr id="14" name="Text 9"/>
          <p:cNvSpPr/>
          <p:nvPr/>
        </p:nvSpPr>
        <p:spPr>
          <a:xfrm>
            <a:off x="4663440" y="2386584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separate thinking block before the answer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264408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77240" y="34290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602" y="35383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3264408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 &amp; latency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4663440" y="3264408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More tokens and slower — use it deliberately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10/12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804672" y="101498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051560" y="822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kern="0" spc="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1554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Streaming endpoint + multi-tool agent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548640" y="202996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tokens stream and tools fire in the logs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66928" y="2596896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2668219"/>
            <a:ext cx="131674" cy="13167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2578608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Hit the live streaming endpoint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66928" y="294436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3015691"/>
            <a:ext cx="131674" cy="13167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92608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an agent that makes 2+ tool calls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566928" y="3291840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3363163"/>
            <a:ext cx="131674" cy="13167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273552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 each tool call in the logs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48640" y="3703320"/>
            <a:ext cx="8046720" cy="658368"/>
          </a:xfrm>
          <a:prstGeom prst="roundRect">
            <a:avLst>
              <a:gd name="adj" fmla="val 11111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749808" y="382219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170" y="3931554"/>
            <a:ext cx="201900" cy="20190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325880" y="3703320"/>
            <a:ext cx="7132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host/tool idea as MCP — </a:t>
            </a: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in-process here; in Section 4 you expose it over MCP.</a:t>
            </a:r>
            <a:endParaRPr lang="en-US" sz="1300" dirty="0"/>
          </a:p>
        </p:txBody>
      </p:sp>
      <p:sp>
        <p:nvSpPr>
          <p:cNvPr id="21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11/12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3192"/>
            <a:ext cx="329184" cy="32918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154680" cy="3429000"/>
          </a:xfrm>
          <a:prstGeom prst="roundRect">
            <a:avLst>
              <a:gd name="adj" fmla="val 3478"/>
            </a:avLst>
          </a:prstGeom>
          <a:solidFill>
            <a:srgbClr val="D97757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133856"/>
            <a:ext cx="548640" cy="5486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8680" y="175564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2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868680" y="2340864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 min  ·  hands-on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886968" y="2724912"/>
            <a:ext cx="1691640" cy="0"/>
          </a:xfrm>
          <a:prstGeom prst="line">
            <a:avLst/>
          </a:prstGeom>
          <a:noFill/>
          <a:ln w="19050">
            <a:solidFill>
              <a:srgbClr val="F2C9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868680" y="2852928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68680" y="3090672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endpoint + a multi-tool agent, committed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06908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PARTS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069080" y="119786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4069080" y="1197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26280" y="11887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the SSE streaming endpoint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4069080" y="1673352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4069080" y="1673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526280" y="166420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multi-tool agent loop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069080" y="2231136"/>
            <a:ext cx="4572000" cy="1508760"/>
          </a:xfrm>
          <a:prstGeom prst="roundRect">
            <a:avLst>
              <a:gd name="adj" fmla="val 4848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4297680" y="235915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CHECKPOINT</a:t>
            </a:r>
            <a:endParaRPr lang="en-US" sz="105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2642616"/>
            <a:ext cx="182880" cy="1828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572000" y="259689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Tokens emit incrementally</a:t>
            </a:r>
            <a:endParaRPr lang="en-US" sz="125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2953512"/>
            <a:ext cx="182880" cy="1828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4572000" y="290779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makes 2+ tool calls first</a:t>
            </a:r>
            <a:endParaRPr lang="en-US" sz="1250" dirty="0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264408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572000" y="32186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 read/write real data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2  ·  12/12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751</Words>
  <Application>Microsoft Macintosh PowerPoint</Application>
  <PresentationFormat>On-screen Show (16:9)</PresentationFormat>
  <Paragraphs>164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Courier New</vt:lpstr>
      <vt:lpstr>Georgia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2 — Streaming, Tool Calling &amp; Extended Thinking</dc:title>
  <dc:subject>PptxGenJS Presentation</dc:subject>
  <dc:creator>dotnetclaude.com</dc:creator>
  <cp:lastModifiedBy>Chris Woodruff</cp:lastModifiedBy>
  <cp:revision>3</cp:revision>
  <dcterms:created xsi:type="dcterms:W3CDTF">2026-06-26T15:55:20Z</dcterms:created>
  <dcterms:modified xsi:type="dcterms:W3CDTF">2026-07-08T12:36:59Z</dcterms:modified>
</cp:coreProperties>
</file>