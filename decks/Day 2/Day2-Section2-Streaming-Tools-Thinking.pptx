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640080"/>
            <a:ext cx="1005840" cy="10058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83880" y="1463040"/>
            <a:ext cx="411480" cy="411480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08" y="914400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85216" y="1737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Streaming, Tool Calling</a:t>
            </a:r>
            <a:endParaRPr 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Extended Thinking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58368" y="3493008"/>
            <a:ext cx="1005840" cy="0"/>
          </a:xfrm>
          <a:prstGeom prst="line">
            <a:avLst/>
          </a:prstGeom>
          <a:noFill/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 min  ·  40 lecture / demo  +  35 lab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walk away able to do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93192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499616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1585204"/>
            <a:ext cx="158008" cy="1580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46304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 responses to the client with SSE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566928" y="1975104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2060692"/>
            <a:ext cx="158008" cy="1580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193852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typed tools Claude can call</a:t>
            </a:r>
            <a:endParaRPr lang="en-US" sz="1650" dirty="0"/>
          </a:p>
        </p:txBody>
      </p:sp>
      <p:sp>
        <p:nvSpPr>
          <p:cNvPr id="11" name="Shape 6"/>
          <p:cNvSpPr/>
          <p:nvPr/>
        </p:nvSpPr>
        <p:spPr>
          <a:xfrm>
            <a:off x="566928" y="245059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2536180"/>
            <a:ext cx="158008" cy="1580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2414016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the agent loop</a:t>
            </a:r>
            <a:endParaRPr lang="en-US" sz="1650" dirty="0"/>
          </a:p>
        </p:txBody>
      </p:sp>
      <p:sp>
        <p:nvSpPr>
          <p:cNvPr id="14" name="Shape 8"/>
          <p:cNvSpPr/>
          <p:nvPr/>
        </p:nvSpPr>
        <p:spPr>
          <a:xfrm>
            <a:off x="566928" y="2926080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3011668"/>
            <a:ext cx="158008" cy="1580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51560" y="2889504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 tools to real BookTracker data</a:t>
            </a:r>
            <a:endParaRPr lang="en-US" sz="1650" dirty="0"/>
          </a:p>
        </p:txBody>
      </p:sp>
      <p:sp>
        <p:nvSpPr>
          <p:cNvPr id="17" name="Shape 10"/>
          <p:cNvSpPr/>
          <p:nvPr/>
        </p:nvSpPr>
        <p:spPr>
          <a:xfrm>
            <a:off x="566928" y="3401568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3487156"/>
            <a:ext cx="158008" cy="1580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51560" y="3364992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extended thinking &amp; weigh its cost</a:t>
            </a:r>
            <a:endParaRPr lang="en-US" sz="1650" dirty="0"/>
          </a:p>
        </p:txBody>
      </p:sp>
      <p:sp>
        <p:nvSpPr>
          <p:cNvPr id="20" name="Text 12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1" name="Text 13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2  ·  2/12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STREAMING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Perceived latency is the point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93192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1720901"/>
            <a:ext cx="307238" cy="3072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148132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Tokens arrive </a:t>
            </a:r>
            <a:r>
              <a:rPr lang="en-US" sz="2600" b="1" dirty="0">
                <a:solidFill>
                  <a:srgbClr val="C25E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the UI feels instant.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548640" y="246888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822960" y="2761488"/>
            <a:ext cx="457200" cy="457200"/>
          </a:xfrm>
          <a:prstGeom prst="ellipse">
            <a:avLst/>
          </a:prstGeom>
          <a:solidFill>
            <a:srgbClr val="615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2880360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27249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streaming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41248" y="32461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waits for the whole reply, then sees it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663440" y="246888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4E4DC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4937760" y="2761488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2880360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577840" y="27249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streaming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4956048" y="32461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words appear in well under a second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2  ·  3/12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PUSH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SSE in ASP.NET Core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93192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212080" cy="2880360"/>
          </a:xfrm>
          <a:prstGeom prst="roundRect">
            <a:avLst>
              <a:gd name="adj" fmla="val 2540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5179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StreamingService → endpoint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41248" y="1828800"/>
            <a:ext cx="4663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Response.ContentType =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"text/event-stream";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C5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foreach</a:t>
            </a:r>
            <a:r>
              <a:rPr lang="en-US" sz="12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(var delta in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svc.StreamAsync(req))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Response.WriteAsync(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</a:t>
            </a:r>
            <a:r>
              <a:rPr lang="en-US" sz="120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"data: {delta}\n\n"</a:t>
            </a:r>
            <a:r>
              <a:rPr lang="en-US" sz="12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Response.Body.FlushAsync();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89320" y="1417320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172" y="1517172"/>
            <a:ext cx="184343" cy="1843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19672" y="1371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text/event-stream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519672" y="163677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the SSE content type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989320" y="2112264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172" y="2212116"/>
            <a:ext cx="184343" cy="184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19672" y="206654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frames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519672" y="2331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frame per chunk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989320" y="2807208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172" y="2907060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19672" y="27614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Flush per chunk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519672" y="302666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each token immediately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89320" y="3502152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172" y="3602004"/>
            <a:ext cx="184343" cy="18434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19672" y="34564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IAsyncEnumerable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6519672" y="37216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yields Claude's deltas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2  ·  4/12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IT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consumption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93192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4160520" cy="1371600"/>
          </a:xfrm>
          <a:prstGeom prst="roundRect">
            <a:avLst>
              <a:gd name="adj" fmla="val 5333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5179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curl — watch frames land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41248" y="182880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-N \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localhost:5000/api/chat/stream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30266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browser — EventSource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41248" y="33375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5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r>
              <a:rPr lang="en-US" sz="1250" dirty="0">
                <a:solidFill>
                  <a:srgbClr val="9FC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EventSource</a:t>
            </a: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(url)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.onmessage = e =&gt;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append(e.data);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0" y="146304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562" y="1572402"/>
            <a:ext cx="201900" cy="201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96128" y="14264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596128" y="17099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Disables buffering — see frames live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029200" y="233172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562" y="2441082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96128" y="22951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EventSource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596128" y="25786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Browser's built-in SSE client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029200" y="320040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8562" y="3309762"/>
            <a:ext cx="201900" cy="2019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96128" y="31638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 arrive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5596128" y="34472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Attendees watch text appear word by word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2  ·  5/12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CALLING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Defining a tool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93192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7492" y="14630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63524" y="1737360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18562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6172" y="17190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81812" y="22128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stable identifier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314700" y="14630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570732" y="1737360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604" y="185623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183380" y="17190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589020" y="22128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does &amp; when to use it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121908" y="14630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6377940" y="1737360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185623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90588" y="17190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schema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396228" y="22128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Typed JSON parameters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315468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4E4DC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822960" y="3364992"/>
            <a:ext cx="502920" cy="5029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" y="3495751"/>
            <a:ext cx="241402" cy="24140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31546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description makes the tool reliable. </a:t>
            </a:r>
            <a:r>
              <a:rPr lang="en-US" sz="15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it like a skill description — written for the model.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2  ·  6/12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MECHANISM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loop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93192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169164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330452" y="1892808"/>
            <a:ext cx="502920" cy="5029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211" y="2023567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24414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requests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13232" y="2715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tool to call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478024" y="21031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660904" y="169164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323844" y="1892808"/>
            <a:ext cx="502920" cy="5029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603" y="2023567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06624" y="24414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execute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2706624" y="2715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C# method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471416" y="21031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4654296" y="169164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5317236" y="1892808"/>
            <a:ext cx="502920" cy="5029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995" y="2023567"/>
            <a:ext cx="241402" cy="24140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00016" y="24414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700016" y="2715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 to Claude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6464808" y="21031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6647688" y="169164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310628" y="1892808"/>
            <a:ext cx="502920" cy="5029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1387" y="2023567"/>
            <a:ext cx="241402" cy="24140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693408" y="24414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continues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6693408" y="2715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…or asks again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548640" y="3154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↻  repeats until Claude is done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5943600" y="3090672"/>
            <a:ext cx="2651760" cy="502920"/>
          </a:xfrm>
          <a:prstGeom prst="roundRect">
            <a:avLst>
              <a:gd name="adj" fmla="val 49091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9632" y="3227832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446520" y="30906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stop_reason: end_turn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548640" y="374904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/>
          <p:nvPr/>
        </p:nvSpPr>
        <p:spPr>
          <a:xfrm>
            <a:off x="777240" y="3749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it as a loop, </a:t>
            </a:r>
            <a:r>
              <a:rPr 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single call — keep going until end_turn.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2  ·  7/12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IT REAL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Wire tools to BookTracker data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93192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4937760" cy="2468880"/>
          </a:xfrm>
          <a:prstGeom prst="roundRect">
            <a:avLst>
              <a:gd name="adj" fmla="val 2963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51790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tool → service call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41248" y="182880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50" dirty="0">
                <a:solidFill>
                  <a:srgbClr val="9FC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</a:t>
            </a: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"update_progress"</a:t>
            </a: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)]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Task&lt;string&gt; </a:t>
            </a:r>
            <a:r>
              <a:rPr lang="en-US" sz="1250" dirty="0">
                <a:solidFill>
                  <a:srgbClr val="9FC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UpdateProgress</a:t>
            </a: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bookId, int page) =&gt;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_books.SetProgress(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bookId, page);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reads &amp; writes the real DB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715000" y="146304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362" y="1572402"/>
            <a:ext cx="201900" cy="20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81928" y="14264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 up books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281928" y="170992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the catalog by title or id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715000" y="224028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362" y="2349642"/>
            <a:ext cx="201900" cy="201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81928" y="22037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progress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281928" y="248716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 the reading position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715000" y="301752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362" y="3126882"/>
            <a:ext cx="201900" cy="201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81928" y="29809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acts for real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281928" y="326440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hit BookTracker services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2  ·  8/12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 the loop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93192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41248" y="1847088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1989734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828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Max-iteration cap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554480" y="21762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 runaway loops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41248" y="26974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 the round-trips; break and return when the cap is hit.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663440" y="155448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956048" y="1847088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8694" y="1989734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69280" y="1828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Per-call error handling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5669280" y="21762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fail gracefully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956048" y="26974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Catch exceptions per tool; feed the error back as a result.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2  ·  9/12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LEVER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Extended thinking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93192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77240" y="1673352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02" y="1782714"/>
            <a:ext cx="201900" cy="201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50876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to enable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4663440" y="150876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reasoning, multi-step planning, tricky math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386584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77240" y="2551176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602" y="2660538"/>
            <a:ext cx="201900" cy="201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2386584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appears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4663440" y="2386584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separate thinking block before the answer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264408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77240" y="342900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602" y="3538362"/>
            <a:ext cx="201900" cy="201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326440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&amp; latency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4663440" y="326440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tokens and slower — use it deliberately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2  ·  10/12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93192"/>
            <a:ext cx="329184" cy="3291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82296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804672" y="1014984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51560" y="822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 endpoint + multi-tool agent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2029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tokens stream and tools fire in the logs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66928" y="2596896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2668219"/>
            <a:ext cx="131674" cy="1316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57860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Hit the live streaming endpoint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66928" y="2944368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3015691"/>
            <a:ext cx="131674" cy="1316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92608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an agent that makes 2+ tool calls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66928" y="3291840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3363163"/>
            <a:ext cx="131674" cy="13167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3273552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each tool call in the logs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548640" y="370332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749808" y="3822192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170" y="3931554"/>
            <a:ext cx="201900" cy="2019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25880" y="370332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host/tool idea as MCP — </a:t>
            </a:r>
            <a:r>
              <a:rPr 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in-process here; in Section 4 you expose it over MCP.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2  ·  11/12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93192"/>
            <a:ext cx="329184" cy="3291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822960"/>
            <a:ext cx="3154680" cy="3429000"/>
          </a:xfrm>
          <a:prstGeom prst="roundRect">
            <a:avLst>
              <a:gd name="adj" fmla="val 3478"/>
            </a:avLst>
          </a:prstGeom>
          <a:solidFill>
            <a:srgbClr val="D97757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133856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8680" y="175564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2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868680" y="234086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E9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 min  ·  hands-on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886968" y="2724912"/>
            <a:ext cx="1691640" cy="0"/>
          </a:xfrm>
          <a:prstGeom prst="line">
            <a:avLst/>
          </a:prstGeom>
          <a:noFill/>
          <a:ln w="19050">
            <a:solidFill>
              <a:srgbClr val="F2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868680" y="28529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BE9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68680" y="309067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endpoint + a multi-tool agent, committed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06908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PARTS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069080" y="1197864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069080" y="1197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26280" y="1188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the SSE streaming endpoint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4069080" y="1673352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069080" y="1673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26280" y="16642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multi-tool agent loop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4069080" y="2231136"/>
            <a:ext cx="4572000" cy="1508760"/>
          </a:xfrm>
          <a:prstGeom prst="roundRect">
            <a:avLst>
              <a:gd name="adj" fmla="val 4848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297680" y="23591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CHECKPOINT</a:t>
            </a:r>
            <a:endParaRPr lang="en-US" sz="10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642616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72000" y="25968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 emit incrementally</a:t>
            </a:r>
            <a:endParaRPr lang="en-US" sz="12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953512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572000" y="29077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makes 2+ tool calls first</a:t>
            </a:r>
            <a:endParaRPr lang="en-US" sz="12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264408"/>
            <a:ext cx="182880" cy="1828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572000" y="32186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read/write real data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2  ·  12/12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729</Words>
  <Application>Microsoft Macintosh PowerPoint</Application>
  <PresentationFormat>On-screen Show (16:9)</PresentationFormat>
  <Paragraphs>151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Courier New</vt:lpstr>
      <vt:lpstr>Georgia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2 — Streaming, Tool Calling &amp; Extended Thinking</dc:title>
  <dc:subject>PptxGenJS Presentation</dc:subject>
  <dc:creator>dotnetclaude.com</dc:creator>
  <cp:lastModifiedBy>Chris Woodruff</cp:lastModifiedBy>
  <cp:revision>2</cp:revision>
  <dcterms:created xsi:type="dcterms:W3CDTF">2026-06-26T15:55:20Z</dcterms:created>
  <dcterms:modified xsi:type="dcterms:W3CDTF">2026-07-06T11:32:30Z</dcterms:modified>
</cp:coreProperties>
</file>