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640080"/>
            <a:ext cx="1005840" cy="100584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146304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08" y="914400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85216" y="173736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Streaming, Tool Calling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Extended Thinking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658368" y="3493008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 min  ·  40 lecture / demo  +  35 lab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  ·  .NET AI with Claude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99616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516" y="1585204"/>
            <a:ext cx="158008" cy="1580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463040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 responses to the client with SSE</a:t>
            </a:r>
            <a:endParaRPr lang="en-US" sz="1650" dirty="0"/>
          </a:p>
        </p:txBody>
      </p:sp>
      <p:sp>
        <p:nvSpPr>
          <p:cNvPr id="8" name="Shape 4"/>
          <p:cNvSpPr/>
          <p:nvPr/>
        </p:nvSpPr>
        <p:spPr>
          <a:xfrm>
            <a:off x="566928" y="1975104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2060692"/>
            <a:ext cx="158008" cy="1580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938528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 typed tools Claude can call</a:t>
            </a:r>
            <a:endParaRPr lang="en-US" sz="1650" dirty="0"/>
          </a:p>
        </p:txBody>
      </p:sp>
      <p:sp>
        <p:nvSpPr>
          <p:cNvPr id="11" name="Shape 6"/>
          <p:cNvSpPr/>
          <p:nvPr/>
        </p:nvSpPr>
        <p:spPr>
          <a:xfrm>
            <a:off x="566928" y="245059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16" y="2536180"/>
            <a:ext cx="158008" cy="1580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51560" y="2414016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the agent loop</a:t>
            </a:r>
            <a:endParaRPr lang="en-US" sz="1650" dirty="0"/>
          </a:p>
        </p:txBody>
      </p:sp>
      <p:sp>
        <p:nvSpPr>
          <p:cNvPr id="14" name="Shape 8"/>
          <p:cNvSpPr/>
          <p:nvPr/>
        </p:nvSpPr>
        <p:spPr>
          <a:xfrm>
            <a:off x="566928" y="2926080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516" y="3011668"/>
            <a:ext cx="158008" cy="1580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51560" y="2889504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 tools to real BookTracker data</a:t>
            </a:r>
            <a:endParaRPr lang="en-US" sz="1650" dirty="0"/>
          </a:p>
        </p:txBody>
      </p:sp>
      <p:sp>
        <p:nvSpPr>
          <p:cNvPr id="17" name="Shape 10"/>
          <p:cNvSpPr/>
          <p:nvPr/>
        </p:nvSpPr>
        <p:spPr>
          <a:xfrm>
            <a:off x="566928" y="3401568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516" y="3487156"/>
            <a:ext cx="158008" cy="1580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51560" y="3364992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extended thinking &amp; weigh its cost</a:t>
            </a:r>
            <a:endParaRPr lang="en-US" sz="1650" dirty="0"/>
          </a:p>
        </p:txBody>
      </p:sp>
      <p:sp>
        <p:nvSpPr>
          <p:cNvPr id="20" name="Text 1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2/12</a:t>
            </a:r>
            <a:endParaRPr lang="en-US" sz="900" dirty="0"/>
          </a:p>
        </p:txBody>
      </p:sp>
      <p:sp>
        <p:nvSpPr>
          <p:cNvPr id="22" name="Text 14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Five objectives — stream, define tools, loop, wire to data, then extended thinking.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STREAMING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Perceived latency is the point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1" y="1720901"/>
            <a:ext cx="307238" cy="3072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17320" y="14813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Tokens arrive </a:t>
            </a:r>
            <a:pPr indent="0" marL="0">
              <a:buNone/>
            </a:pPr>
            <a:r>
              <a:rPr lang="en-US" sz="2600" b="1" dirty="0">
                <a:solidFill>
                  <a:srgbClr val="C2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</a:t>
            </a:r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UI feels instant.</a:t>
            </a:r>
            <a:endParaRPr lang="en-US" sz="2600" dirty="0"/>
          </a:p>
        </p:txBody>
      </p:sp>
      <p:sp>
        <p:nvSpPr>
          <p:cNvPr id="8" name="Shape 4"/>
          <p:cNvSpPr/>
          <p:nvPr/>
        </p:nvSpPr>
        <p:spPr>
          <a:xfrm>
            <a:off x="548640" y="24688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22960" y="2761488"/>
            <a:ext cx="457200" cy="457200"/>
          </a:xfrm>
          <a:prstGeom prst="ellipse">
            <a:avLst/>
          </a:prstGeom>
          <a:solidFill>
            <a:srgbClr val="615C5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2880360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63040" y="27249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streaming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841248" y="32461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waits for the whole reply, then sees it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663440" y="24688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4E4DC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937760" y="276148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2880360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577840" y="27249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streaming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4956048" y="32461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words appear in well under a second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3/12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Same total time — but streaming changes how fast it feels, which is what users judge.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 PUSH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SSE in ASP.NET Core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5212080" cy="2880360"/>
          </a:xfrm>
          <a:prstGeom prst="roundRect">
            <a:avLst>
              <a:gd name="adj" fmla="val 2540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15179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StreamingService → endpoint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663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Response.ContentType =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"text/event-stream";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C58F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foreach</a:t>
            </a:r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(var delta in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svc.StreamAsync(req))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Response.WriteAsync(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</a:t>
            </a:r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"data: {delta}\n\n"</a:t>
            </a:r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Response.Body.FlushAsync();</a:t>
            </a:r>
            <a:endParaRPr lang="en-US" sz="1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989320" y="1417320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172" y="151717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19672" y="1371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text/event-stream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6519672" y="16367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the SSE content type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989320" y="2112264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9172" y="2212116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9672" y="206654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frames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6519672" y="23317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frame per chunk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89320" y="2807208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172" y="2907060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19672" y="27614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Flush per chunk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6519672" y="302666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each token immediately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89320" y="350215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9172" y="3602004"/>
            <a:ext cx="184343" cy="18434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19672" y="34564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IAsyncEnumerable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6519672" y="372160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yields Claude's deltas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4/12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await foreach over the service, write a data: frame, flush — that's the whole loop.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IT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 consumption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160520" cy="1371600"/>
          </a:xfrm>
          <a:prstGeom prst="roundRect">
            <a:avLst>
              <a:gd name="adj" fmla="val 5333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151790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curl — watch frames land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-N \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localhost:5000/api/chat/stream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8803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302666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browser — EventSource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33375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58F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EventSource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(url)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.onmessage = e =&gt;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append(e.data);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02920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562" y="1572402"/>
            <a:ext cx="201900" cy="2019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96128" y="142646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-N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5596128" y="17099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Disables buffering — see frames live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029200" y="23317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562" y="2441082"/>
            <a:ext cx="201900" cy="201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596128" y="22951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EventSource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596128" y="25786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Browser's built-in SSE client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0" y="32004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562" y="3309762"/>
            <a:ext cx="201900" cy="2019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96128" y="31638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arrive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5596128" y="34472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Attendees watch text appear word by word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5/12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Show both: curl -N in a terminal and EventSource in a browser tab.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 CALLING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Defining a tool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46304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63524" y="1737360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" y="18562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6172" y="17190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81812" y="2212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stable identifier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3314700" y="146304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570732" y="1737360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604" y="185623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183380" y="17190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589020" y="2212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 &amp; when to use it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121908" y="146304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77940" y="1737360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6812" y="1856232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90588" y="17190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schema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6396228" y="2212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Typed JSON parameters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154680"/>
            <a:ext cx="8046720" cy="914400"/>
          </a:xfrm>
          <a:prstGeom prst="roundRect">
            <a:avLst>
              <a:gd name="adj" fmla="val 10000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2960" y="3364992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719" y="3495751"/>
            <a:ext cx="241402" cy="24140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54480" y="31546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description makes the tool reliable. </a:t>
            </a:r>
            <a:pPr indent="0" marL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it like a skill description — written for the model.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6/12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The description is the contract — vague text means the model picks the wrong tool.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MECHANISM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 loop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67512" y="1691640"/>
            <a:ext cx="1828800" cy="1325880"/>
          </a:xfrm>
          <a:prstGeom prst="roundRect">
            <a:avLst>
              <a:gd name="adj" fmla="val 689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330452" y="189280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211" y="2023567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3232" y="24414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requests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13232" y="2715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tool to call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2478024" y="210312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2660904" y="1691640"/>
            <a:ext cx="1828800" cy="1325880"/>
          </a:xfrm>
          <a:prstGeom prst="roundRect">
            <a:avLst>
              <a:gd name="adj" fmla="val 689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323844" y="189280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603" y="2023567"/>
            <a:ext cx="241402" cy="24140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706624" y="24414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execute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2706624" y="2715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C# method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4471416" y="210312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4654296" y="1691640"/>
            <a:ext cx="1828800" cy="1325880"/>
          </a:xfrm>
          <a:prstGeom prst="roundRect">
            <a:avLst>
              <a:gd name="adj" fmla="val 689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5317236" y="189280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7995" y="2023567"/>
            <a:ext cx="241402" cy="24140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700016" y="24414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 result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700016" y="2715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 to Claude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6464808" y="210312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6647688" y="1691640"/>
            <a:ext cx="1828800" cy="1325880"/>
          </a:xfrm>
          <a:prstGeom prst="roundRect">
            <a:avLst>
              <a:gd name="adj" fmla="val 689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310628" y="189280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1387" y="2023567"/>
            <a:ext cx="241402" cy="24140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693408" y="24414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continues</a:t>
            </a:r>
            <a:endParaRPr lang="en-US" sz="1250" dirty="0"/>
          </a:p>
        </p:txBody>
      </p:sp>
      <p:sp>
        <p:nvSpPr>
          <p:cNvPr id="27" name="Text 20"/>
          <p:cNvSpPr/>
          <p:nvPr/>
        </p:nvSpPr>
        <p:spPr>
          <a:xfrm>
            <a:off x="6693408" y="2715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…or asks again</a:t>
            </a:r>
            <a:endParaRPr lang="en-US" sz="1050" dirty="0"/>
          </a:p>
        </p:txBody>
      </p:sp>
      <p:sp>
        <p:nvSpPr>
          <p:cNvPr id="28" name="Text 21"/>
          <p:cNvSpPr/>
          <p:nvPr/>
        </p:nvSpPr>
        <p:spPr>
          <a:xfrm>
            <a:off x="548640" y="3154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↻  repeats until Claude is done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0" y="3090672"/>
            <a:ext cx="2651760" cy="502920"/>
          </a:xfrm>
          <a:prstGeom prst="roundRect">
            <a:avLst>
              <a:gd name="adj" fmla="val 49091"/>
            </a:avLst>
          </a:prstGeom>
          <a:solidFill>
            <a:srgbClr val="D97757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9632" y="3227832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446520" y="309067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stop_reason: end_turn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548640" y="37490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F4E4DC"/>
          </a:solidFill>
          <a:ln/>
        </p:spPr>
      </p:sp>
      <p:sp>
        <p:nvSpPr>
          <p:cNvPr id="33" name="Text 25"/>
          <p:cNvSpPr/>
          <p:nvPr/>
        </p:nvSpPr>
        <p:spPr>
          <a:xfrm>
            <a:off x="777240" y="3749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it as a loop, </a:t>
            </a:r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single call — keep going until end_turn.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7/12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The mental shift: one user turn can be many model↔tool round-trips.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IT REAL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Wire tools to BookTracker data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937760" cy="2468880"/>
          </a:xfrm>
          <a:prstGeom prst="roundRect">
            <a:avLst>
              <a:gd name="adj" fmla="val 2963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151790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tool → service call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"update_progress"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)]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Task&lt;string&gt;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UpdateProgress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bookId, int page) =&gt;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_books.SetProgress(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bookId, page);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reads &amp; writes the real DB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71500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362" y="1572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81928" y="14264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 up books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281928" y="170992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the catalog by title or id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715000" y="22402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362" y="234964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81928" y="22037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 progress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281928" y="248716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 the reading position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715000" y="30175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362" y="312688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281928" y="29809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acts for real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281928" y="326440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hit BookTracker services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8/12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Tools are just C# methods over your existing services — no special plumbing.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 the loop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1248" y="184708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894" y="1989734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Max-iteration cap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1554480" y="217627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 runaway loops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41248" y="26974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 the round-trips; break and return when the cap is hit.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663440" y="155448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956048" y="184708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8694" y="1989734"/>
            <a:ext cx="263347" cy="26334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6928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Per-call error handling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669280" y="217627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fail gracefully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956048" y="26974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exceptions per tool; feed the error back as a result.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9/12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Two guards make the loop production-safe: cap iterations, isolate tool failures.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ADVANCED LEVER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Extended thinking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6733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02" y="178271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to enable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4663440" y="150876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 reasoning, multi-step planning, tricky math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86584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25511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02" y="2660538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2386584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appears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4663440" y="2386584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separate thinking block before the answer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264408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3429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602" y="35383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264408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&amp; latency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4663440" y="3264408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tokens and slower — use it deliberately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10/12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Reach for extended thinking on genuinely hard problems — not every request.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554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Streaming endpoint + multi-tool agent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548640" y="202996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tokens stream and tools fire in the logs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6928" y="259689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" y="2668219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578608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Hit the live streaming endpoint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66928" y="294436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015691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92608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an agent that makes 2+ tool calls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66928" y="329184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363163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273552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each tool call in the logs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703320"/>
            <a:ext cx="8046720" cy="658368"/>
          </a:xfrm>
          <a:prstGeom prst="roundRect">
            <a:avLst>
              <a:gd name="adj" fmla="val 11111"/>
            </a:avLst>
          </a:prstGeom>
          <a:solidFill>
            <a:srgbClr val="F4E4DC"/>
          </a:solidFill>
          <a:ln/>
        </p:spPr>
      </p:sp>
      <p:sp>
        <p:nvSpPr>
          <p:cNvPr id="18" name="Shape 12"/>
          <p:cNvSpPr/>
          <p:nvPr/>
        </p:nvSpPr>
        <p:spPr>
          <a:xfrm>
            <a:off x="749808" y="382219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70" y="3931554"/>
            <a:ext cx="201900" cy="2019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325880" y="3703320"/>
            <a:ext cx="7132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host/tool idea as MCP — </a:t>
            </a:r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in-process here; in Section 4 you expose it over MCP.</a:t>
            </a:r>
            <a:endParaRPr lang="en-US" sz="1300" dirty="0"/>
          </a:p>
        </p:txBody>
      </p:sp>
      <p:sp>
        <p:nvSpPr>
          <p:cNvPr id="21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11/12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Make the log lines visible — the tool calls are the proof the loop is running.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42900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33856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5564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2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868680" y="234086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72491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68680" y="285292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09067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endpoint + a multi-tool agent, committed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9786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2" name="Text 8"/>
          <p:cNvSpPr/>
          <p:nvPr/>
        </p:nvSpPr>
        <p:spPr>
          <a:xfrm>
            <a:off x="4069080" y="1197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SSE streaming endpoint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673352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5" name="Text 11"/>
          <p:cNvSpPr/>
          <p:nvPr/>
        </p:nvSpPr>
        <p:spPr>
          <a:xfrm>
            <a:off x="4069080" y="1673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66420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multi-tool agent loop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231136"/>
            <a:ext cx="4572000" cy="1508760"/>
          </a:xfrm>
          <a:prstGeom prst="roundRect">
            <a:avLst>
              <a:gd name="adj" fmla="val 4848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297680" y="235915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642616"/>
            <a:ext cx="182880" cy="1828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572000" y="259689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Tokens emit incrementally</a:t>
            </a:r>
            <a:endParaRPr lang="en-US" sz="125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953512"/>
            <a:ext cx="182880" cy="1828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572000" y="290779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makes 2+ tool calls first</a:t>
            </a:r>
            <a:endParaRPr lang="en-US" sz="12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264408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572000" y="32186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read/write real data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12/12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Done = incremental tokens plus an agent that calls 2+ real tools before replying.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2 — Streaming, Tool Calling &amp; Extended Thinking</dc:title>
  <dc:subject>PptxGenJS Presentation</dc:subject>
  <dc:creator>dotnetclaude.com</dc:creator>
  <cp:lastModifiedBy>dotnetclaude.com</cp:lastModifiedBy>
  <cp:revision>1</cp:revision>
  <dcterms:created xsi:type="dcterms:W3CDTF">2026-06-26T15:55:20Z</dcterms:created>
  <dcterms:modified xsi:type="dcterms:W3CDTF">2026-06-26T15:55:20Z</dcterms:modified>
</cp:coreProperties>
</file>