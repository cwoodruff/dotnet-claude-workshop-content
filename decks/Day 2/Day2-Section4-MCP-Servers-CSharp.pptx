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640080"/>
            <a:ext cx="1005840" cy="10058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8183880" y="1463040"/>
            <a:ext cx="411480" cy="411480"/>
          </a:xfrm>
          <a:prstGeom prst="ellipse">
            <a:avLst/>
          </a:prstGeom>
          <a:solidFill>
            <a:srgbClr val="F4E4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08" y="9144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" y="18288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MCP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Servers in C#</a:t>
            </a:r>
            <a:endParaRPr lang="en-US" sz="5000" dirty="0"/>
          </a:p>
        </p:txBody>
      </p:sp>
      <p:sp>
        <p:nvSpPr>
          <p:cNvPr id="7" name="Shape 4"/>
          <p:cNvSpPr/>
          <p:nvPr/>
        </p:nvSpPr>
        <p:spPr>
          <a:xfrm>
            <a:off x="658368" y="3520440"/>
            <a:ext cx="1005840" cy="0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6393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 min  ·  30 lecture / demo  +  30 lab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4622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  ·  .NET AI with Claude Workshop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02336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AH-HA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3504" y="16276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Yesterday you </a:t>
            </a:r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used</a:t>
            </a:r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GitHub MCP server.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03504" y="2487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you </a:t>
            </a:r>
            <a:pPr indent="0" marL="0">
              <a:buNone/>
            </a:pPr>
            <a:r>
              <a:rPr lang="en-US" sz="3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your own</a:t>
            </a:r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C# —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Claude to your database and internal services.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5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5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4  ·  2/11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walk away able to do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02336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447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1530340"/>
            <a:ext cx="158008" cy="1580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417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Day 1's host / client / server model to C#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66928" y="19019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1987540"/>
            <a:ext cx="158008" cy="1580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18745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ModelContextProtocol + ModelContextProtocol.AspNetCore (v1.x GA)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566928" y="23591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2444740"/>
            <a:ext cx="158008" cy="1580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3317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typed MCP tools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66928" y="28163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2901940"/>
            <a:ext cx="158008" cy="1580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27889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tools through DI to EF Core &amp; services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566928" y="32735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516" y="3359140"/>
            <a:ext cx="158008" cy="1580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32461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your server to Claude Code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66928" y="37307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516" y="3816340"/>
            <a:ext cx="158008" cy="1580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5156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tool descriptions &amp; secure the server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4  ·  3/11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Six objectives — from the Day 1 model to a secured, DI-wired C# server.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 FROM DAY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 · client · server + primitives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02336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" y="14173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90472" y="1655064"/>
            <a:ext cx="548640" cy="548640"/>
          </a:xfrm>
          <a:prstGeom prst="ellipse">
            <a:avLst/>
          </a:prstGeom>
          <a:solidFill>
            <a:srgbClr val="615C5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18" y="1797710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492" y="22585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507492" y="2514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022092" y="18745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314700" y="14173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97680" y="1655064"/>
            <a:ext cx="548640" cy="548640"/>
          </a:xfrm>
          <a:prstGeom prst="ellipse">
            <a:avLst/>
          </a:prstGeom>
          <a:solidFill>
            <a:srgbClr val="615C5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326" y="1797710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4700" y="22585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3314700" y="2514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Speaks MCP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829300" y="18745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6121908" y="14173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E4DC"/>
          </a:solidFill>
          <a:ln w="12700">
            <a:solidFill>
              <a:srgbClr val="D8D3C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104888" y="1655064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534" y="1797710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21908" y="22585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6121908" y="2514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build this today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48640" y="3035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SERVER EXPOSES THREE PRIMITIVES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3364992"/>
            <a:ext cx="2587752" cy="777240"/>
          </a:xfrm>
          <a:prstGeom prst="roundRect">
            <a:avLst>
              <a:gd name="adj" fmla="val 941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49808" y="3584448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6" y="3679546"/>
            <a:ext cx="175565" cy="1755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61872" y="3364992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pPr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functions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3227832" y="3364992"/>
            <a:ext cx="2587752" cy="777240"/>
          </a:xfrm>
          <a:prstGeom prst="roundRect">
            <a:avLst>
              <a:gd name="adj" fmla="val 941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429000" y="3584448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098" y="3679546"/>
            <a:ext cx="175565" cy="17556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941064" y="3364992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pPr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readable data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5907024" y="3364992"/>
            <a:ext cx="2587752" cy="777240"/>
          </a:xfrm>
          <a:prstGeom prst="roundRect">
            <a:avLst>
              <a:gd name="adj" fmla="val 941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108192" y="3584448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3290" y="3679546"/>
            <a:ext cx="175565" cy="17556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620256" y="3364992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</a:t>
            </a:r>
            <a:pPr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templates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4  ·  4/11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Same model as Day 1 — today you implement the server box in C#.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SET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layout: BookTracker.Mcp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02336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4572000" cy="2331720"/>
          </a:xfrm>
          <a:prstGeom prst="roundRect">
            <a:avLst>
              <a:gd name="adj" fmla="val 3137"/>
            </a:avLst>
          </a:prstGeom>
          <a:solidFill>
            <a:srgbClr val="1F1E1D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517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solution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82880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BookTracker.Mcp/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Program.cs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Tools/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BookTools.cs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BookTracker.Mcp.csproj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ModelContextProtocol &amp; .AspNetCore pkgs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40680" y="146304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042" y="1572402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07608" y="14264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project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007608" y="17099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BookTracker.Mcp in the solution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40680" y="224028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042" y="234964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07608" y="22037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C# SDK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007608" y="24871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ModelContextProtocol + ModelContextProtocol.AspNetCore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40680" y="301752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042" y="312688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07608" y="29809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Hosts your tools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007608" y="32644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Core &amp; Data projects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4  ·  5/11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A dedicated project that references your existing Core and Data layers.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Streamable HTTP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02336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4E4DC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191383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Streamable HTTP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68680" y="2468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current transport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over standard HTTP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C# SDK targets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663440" y="150876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937760" y="1783080"/>
            <a:ext cx="502920" cy="502920"/>
          </a:xfrm>
          <a:prstGeom prst="ellipse">
            <a:avLst/>
          </a:prstGeom>
          <a:solidFill>
            <a:srgbClr val="615C5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519" y="191383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2356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15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Older HTTP + SSE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983480" y="2468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previous transport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Superseded — don't use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in new servers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4  ·  6/11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Default to Streamable HTTP; the older HTTP+SSE transport is superseded.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tools with typed schemas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02336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120640" cy="2788920"/>
          </a:xfrm>
          <a:prstGeom prst="roundRect">
            <a:avLst>
              <a:gd name="adj" fmla="val 2623"/>
            </a:avLst>
          </a:prstGeom>
          <a:solidFill>
            <a:srgbClr val="1F1E1D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517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BookTools.cs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82880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McpServerTool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"Search the catalog</a:t>
            </a:r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by title or author."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SearchBooks(string query) =&gt;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_books.SearchAsync(query);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897880" y="146304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242" y="1572402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64808" y="1426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input schema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64808" y="17099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Parameters drive the JSON schema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897880" y="22860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242" y="239536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64808" y="2249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 = contract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64808" y="25328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Tells the model when to call it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897880" y="310896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242" y="321832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64808" y="30723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discipline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464808" y="3355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skills &amp; in-process tools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4  ·  7/11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The description is the contract with the model — write it like a skill trigger.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Claude to your own data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02336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4434840" cy="2011680"/>
          </a:xfrm>
          <a:prstGeom prst="roundRect">
            <a:avLst>
              <a:gd name="adj" fmla="val 3636"/>
            </a:avLst>
          </a:prstGeom>
          <a:solidFill>
            <a:srgbClr val="1F1E1D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5179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 into the tool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82880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5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BookTools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BookDbContext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IBookService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books)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injected like any service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652" y="151717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88152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search_books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788152" y="1636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the catalog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257800" y="2075688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652" y="2175540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88152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get_reading_progress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788152" y="2295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a user's progress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257800" y="2734056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652" y="2833908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88152" y="2688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add_book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788152" y="2953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through your service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6118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4E4DC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373075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70" y="3840114"/>
            <a:ext cx="201900" cy="2019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36118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thin, governed gateway: </a:t>
            </a:r>
            <a:pPr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never touches the DB — only your tools.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4  ·  8/11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Tools are the only door to your data — the server governs every access.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02336"/>
            <a:ext cx="329184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4" name="Shape 1"/>
          <p:cNvSpPr/>
          <p:nvPr/>
        </p:nvSpPr>
        <p:spPr>
          <a:xfrm>
            <a:off x="804672" y="101498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1051560" y="822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the server with Claude Code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204825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your server to a live tool call on real data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F1E1D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" y="27980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list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FB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booktracker  ✓ connected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983480" y="262432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803" y="2695651"/>
            <a:ext cx="131674" cy="1316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26060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the running server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983480" y="299008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803" y="3061411"/>
            <a:ext cx="131674" cy="1316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67528" y="29718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claude mcp list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983480" y="335584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803" y="3427171"/>
            <a:ext cx="131674" cy="13167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33375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Invoke a tool against real data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548640" y="370332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4DAD2"/>
          </a:solidFill>
          <a:ln/>
        </p:spPr>
      </p:sp>
      <p:sp>
        <p:nvSpPr>
          <p:cNvPr id="20" name="Text 14"/>
          <p:cNvSpPr/>
          <p:nvPr/>
        </p:nvSpPr>
        <p:spPr>
          <a:xfrm>
            <a:off x="777240" y="3703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 it:  </a:t>
            </a:r>
            <a:pPr indent="0" marL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lists your tools, then calls one and returns real rows.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4  ·  9/11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The moment of truth — Claude discovers and calls your C# tool live.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SKIP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02336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" y="1554480"/>
            <a:ext cx="2514600" cy="2240280"/>
          </a:xfrm>
          <a:prstGeom prst="roundRect">
            <a:avLst>
              <a:gd name="adj" fmla="val 408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44752" y="184708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73" y="2013509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492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08660" y="303580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who is calling the server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314700" y="1554480"/>
            <a:ext cx="2514600" cy="2240280"/>
          </a:xfrm>
          <a:prstGeom prst="roundRect">
            <a:avLst>
              <a:gd name="adj" fmla="val 408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51960" y="184708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381" y="201350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14700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validation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515868" y="303580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trust tool arguments blindly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21908" y="1554480"/>
            <a:ext cx="2514600" cy="2240280"/>
          </a:xfrm>
          <a:prstGeom prst="roundRect">
            <a:avLst>
              <a:gd name="adj" fmla="val 408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059168" y="184708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589" y="2013509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21908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logging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323076" y="303580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every tool call &amp; result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4  ·  10/11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A tool is a new entry point — authenticate, validate, and log every call.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02336"/>
            <a:ext cx="329184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154680" cy="3429000"/>
          </a:xfrm>
          <a:prstGeom prst="roundRect">
            <a:avLst>
              <a:gd name="adj" fmla="val 3478"/>
            </a:avLst>
          </a:prstGeom>
          <a:solidFill>
            <a:srgbClr val="D97757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33856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17556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4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868680" y="23408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min  ·  hands-on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86968" y="2724912"/>
            <a:ext cx="1691640" cy="0"/>
          </a:xfrm>
          <a:prstGeom prst="line">
            <a:avLst/>
          </a:prstGeom>
          <a:noFill/>
          <a:ln w="19050">
            <a:solidFill>
              <a:srgbClr val="F2C9B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68680" y="28529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68680" y="309067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BookTracker.Mcp with 3+ tools connected to Claude Code, committed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06908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PARTS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069080" y="1124712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</p:sp>
      <p:sp>
        <p:nvSpPr>
          <p:cNvPr id="12" name="Text 8"/>
          <p:cNvSpPr/>
          <p:nvPr/>
        </p:nvSpPr>
        <p:spPr>
          <a:xfrm>
            <a:off x="4069080" y="1124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11155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Scaffold the BookTracker.Mcp server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069080" y="156362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</p:sp>
      <p:sp>
        <p:nvSpPr>
          <p:cNvPr id="15" name="Text 11"/>
          <p:cNvSpPr/>
          <p:nvPr/>
        </p:nvSpPr>
        <p:spPr>
          <a:xfrm>
            <a:off x="4069080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26280" y="1554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3+ DI-wired tools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4069080" y="2002536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</p:sp>
      <p:sp>
        <p:nvSpPr>
          <p:cNvPr id="18" name="Text 14"/>
          <p:cNvSpPr/>
          <p:nvPr/>
        </p:nvSpPr>
        <p:spPr>
          <a:xfrm>
            <a:off x="4069080" y="2002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6280" y="19933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&amp; invoke from Claude Code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4069080" y="2487168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297680" y="26151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</a:t>
            </a:r>
            <a:endParaRPr lang="en-US" sz="10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898648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72000" y="2852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builds and runs</a:t>
            </a:r>
            <a:endParaRPr lang="en-US" sz="12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182112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0" y="3136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3+ typed tools, clear descriptions</a:t>
            </a:r>
            <a:endParaRPr lang="en-US" sz="12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465576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3419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call real services</a:t>
            </a:r>
            <a:endParaRPr lang="en-US" sz="12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74904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72000" y="3703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lists &amp; invokes a tool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4  ·  11/11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Done = 3+ real tools your Claude Code can list and invoke against the DB.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4 — Building MCP Servers in C#</dc:title>
  <dc:subject>PptxGenJS Presentation</dc:subject>
  <dc:creator>dotnetclaude.com</dc:creator>
  <cp:lastModifiedBy>dotnetclaude.com</cp:lastModifiedBy>
  <cp:revision>1</cp:revision>
  <dcterms:created xsi:type="dcterms:W3CDTF">2026-06-26T16:05:50Z</dcterms:created>
  <dcterms:modified xsi:type="dcterms:W3CDTF">2026-06-26T16:05:50Z</dcterms:modified>
</cp:coreProperties>
</file>