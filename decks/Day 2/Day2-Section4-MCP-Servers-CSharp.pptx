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4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640080"/>
            <a:ext cx="1005840" cy="10058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8183880" y="1463040"/>
            <a:ext cx="411480" cy="411480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5008" y="914400"/>
            <a:ext cx="420624" cy="4206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417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85216" y="182880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Building MCP</a:t>
            </a:r>
            <a:endParaRPr lang="en-US" sz="5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50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Servers in C#</a:t>
            </a:r>
            <a:endParaRPr lang="en-US" sz="5000" dirty="0"/>
          </a:p>
        </p:txBody>
      </p:sp>
      <p:sp>
        <p:nvSpPr>
          <p:cNvPr id="7" name="Shape 4"/>
          <p:cNvSpPr/>
          <p:nvPr/>
        </p:nvSpPr>
        <p:spPr>
          <a:xfrm>
            <a:off x="658368" y="3520440"/>
            <a:ext cx="1005840" cy="0"/>
          </a:xfrm>
          <a:prstGeom prst="line">
            <a:avLst/>
          </a:prstGeom>
          <a:noFill/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F1E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12344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AH-HA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603504" y="1627632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Yesterday you </a:t>
            </a:r>
            <a:r>
              <a:rPr lang="en-US" sz="3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used</a:t>
            </a: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the GitHub MCP server.</a:t>
            </a:r>
            <a:endParaRPr lang="en-US" sz="3100" dirty="0"/>
          </a:p>
        </p:txBody>
      </p:sp>
      <p:sp>
        <p:nvSpPr>
          <p:cNvPr id="5" name="Text 2"/>
          <p:cNvSpPr/>
          <p:nvPr/>
        </p:nvSpPr>
        <p:spPr>
          <a:xfrm>
            <a:off x="603504" y="248716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</a:t>
            </a:r>
            <a:r>
              <a:rPr lang="en-US" sz="3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your own</a:t>
            </a:r>
            <a:r>
              <a:rPr lang="en-US" sz="3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in C# —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640080" y="32004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9C4B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connecting Claude to your database and internal services.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95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2/11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you'll walk away able to do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1530340"/>
            <a:ext cx="158008" cy="15800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051560" y="1417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Day 1's host / client / server model to C#</a:t>
            </a:r>
            <a:endParaRPr lang="en-US" sz="1600" dirty="0"/>
          </a:p>
        </p:txBody>
      </p:sp>
      <p:sp>
        <p:nvSpPr>
          <p:cNvPr id="8" name="Shape 4"/>
          <p:cNvSpPr/>
          <p:nvPr/>
        </p:nvSpPr>
        <p:spPr>
          <a:xfrm>
            <a:off x="566928" y="19019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1987540"/>
            <a:ext cx="158008" cy="15800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51560" y="18745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Install ModelContextProtocol + ModelContextProtocol.AspNetCore (v1.x GA)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566928" y="23591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2444740"/>
            <a:ext cx="158008" cy="158008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051560" y="23317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 typed MCP tools</a:t>
            </a:r>
            <a:endParaRPr lang="en-US" sz="1600" dirty="0"/>
          </a:p>
        </p:txBody>
      </p:sp>
      <p:sp>
        <p:nvSpPr>
          <p:cNvPr id="14" name="Shape 8"/>
          <p:cNvSpPr/>
          <p:nvPr/>
        </p:nvSpPr>
        <p:spPr>
          <a:xfrm>
            <a:off x="566928" y="28163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2901940"/>
            <a:ext cx="158008" cy="1580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051560" y="27889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Wire tools through DI to EF Core &amp; services</a:t>
            </a:r>
            <a:endParaRPr lang="en-US" sz="1600" dirty="0"/>
          </a:p>
        </p:txBody>
      </p:sp>
      <p:sp>
        <p:nvSpPr>
          <p:cNvPr id="17" name="Shape 10"/>
          <p:cNvSpPr/>
          <p:nvPr/>
        </p:nvSpPr>
        <p:spPr>
          <a:xfrm>
            <a:off x="566928" y="32735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3359140"/>
            <a:ext cx="158008" cy="158008"/>
          </a:xfrm>
          <a:prstGeom prst="rect">
            <a:avLst/>
          </a:prstGeom>
        </p:spPr>
      </p:pic>
      <p:sp>
        <p:nvSpPr>
          <p:cNvPr id="19" name="Text 11"/>
          <p:cNvSpPr/>
          <p:nvPr/>
        </p:nvSpPr>
        <p:spPr>
          <a:xfrm>
            <a:off x="1051560" y="32461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 your server to Claude Code</a:t>
            </a:r>
            <a:endParaRPr lang="en-US" sz="1600" dirty="0"/>
          </a:p>
        </p:txBody>
      </p:sp>
      <p:sp>
        <p:nvSpPr>
          <p:cNvPr id="20" name="Shape 12"/>
          <p:cNvSpPr/>
          <p:nvPr/>
        </p:nvSpPr>
        <p:spPr>
          <a:xfrm>
            <a:off x="566928" y="3730752"/>
            <a:ext cx="329184" cy="32918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516" y="3816340"/>
            <a:ext cx="158008" cy="158008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1051560" y="370332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Design tool descriptions &amp; secure the server</a:t>
            </a:r>
            <a:endParaRPr lang="en-US" sz="1600" dirty="0"/>
          </a:p>
        </p:txBody>
      </p:sp>
      <p:sp>
        <p:nvSpPr>
          <p:cNvPr id="23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4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3/11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RECAP FROM DAY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Host · client · server + primitives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41732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90472" y="1655064"/>
            <a:ext cx="548640" cy="548640"/>
          </a:xfrm>
          <a:prstGeom prst="ellipse">
            <a:avLst/>
          </a:prstGeom>
          <a:solidFill>
            <a:srgbClr val="615C5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3118" y="1797710"/>
            <a:ext cx="263347" cy="263347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25856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</a:t>
            </a:r>
            <a:endParaRPr lang="en-US" sz="1550" dirty="0"/>
          </a:p>
        </p:txBody>
      </p:sp>
      <p:sp>
        <p:nvSpPr>
          <p:cNvPr id="9" name="Text 5"/>
          <p:cNvSpPr/>
          <p:nvPr/>
        </p:nvSpPr>
        <p:spPr>
          <a:xfrm>
            <a:off x="507492" y="251460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3022092" y="187452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7"/>
          <p:cNvSpPr/>
          <p:nvPr/>
        </p:nvSpPr>
        <p:spPr>
          <a:xfrm>
            <a:off x="3314700" y="141732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297680" y="1655064"/>
            <a:ext cx="548640" cy="548640"/>
          </a:xfrm>
          <a:prstGeom prst="ellipse">
            <a:avLst/>
          </a:prstGeom>
          <a:solidFill>
            <a:srgbClr val="615C5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0326" y="1797710"/>
            <a:ext cx="263347" cy="263347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314700" y="225856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Client</a:t>
            </a:r>
            <a:endParaRPr lang="en-US" sz="1550" dirty="0"/>
          </a:p>
        </p:txBody>
      </p:sp>
      <p:sp>
        <p:nvSpPr>
          <p:cNvPr id="15" name="Text 10"/>
          <p:cNvSpPr/>
          <p:nvPr/>
        </p:nvSpPr>
        <p:spPr>
          <a:xfrm>
            <a:off x="3314700" y="251460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Speaks MCP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5829300" y="187452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9775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2000" dirty="0"/>
          </a:p>
        </p:txBody>
      </p:sp>
      <p:sp>
        <p:nvSpPr>
          <p:cNvPr id="17" name="Shape 12"/>
          <p:cNvSpPr/>
          <p:nvPr/>
        </p:nvSpPr>
        <p:spPr>
          <a:xfrm>
            <a:off x="6121908" y="1417320"/>
            <a:ext cx="2514600" cy="1371600"/>
          </a:xfrm>
          <a:prstGeom prst="roundRect">
            <a:avLst>
              <a:gd name="adj" fmla="val 6667"/>
            </a:avLst>
          </a:prstGeom>
          <a:solidFill>
            <a:srgbClr val="F4E4DC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3"/>
          <p:cNvSpPr/>
          <p:nvPr/>
        </p:nvSpPr>
        <p:spPr>
          <a:xfrm>
            <a:off x="7104888" y="1655064"/>
            <a:ext cx="548640" cy="54864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7534" y="1797710"/>
            <a:ext cx="263347" cy="263347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121908" y="2258568"/>
            <a:ext cx="2514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</a:t>
            </a:r>
            <a:endParaRPr lang="en-US" sz="1550" dirty="0"/>
          </a:p>
        </p:txBody>
      </p:sp>
      <p:sp>
        <p:nvSpPr>
          <p:cNvPr id="21" name="Text 15"/>
          <p:cNvSpPr/>
          <p:nvPr/>
        </p:nvSpPr>
        <p:spPr>
          <a:xfrm>
            <a:off x="6121908" y="251460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build this today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548640" y="30358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SERVER EXPOSES THREE PRIMITIVES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3364992"/>
            <a:ext cx="2587752" cy="777240"/>
          </a:xfrm>
          <a:prstGeom prst="roundRect">
            <a:avLst>
              <a:gd name="adj" fmla="val 941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8"/>
          <p:cNvSpPr/>
          <p:nvPr/>
        </p:nvSpPr>
        <p:spPr>
          <a:xfrm>
            <a:off x="749808" y="3584448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6" y="3679546"/>
            <a:ext cx="175565" cy="175565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1261872" y="3364992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functions</a:t>
            </a:r>
            <a:endParaRPr lang="en-US" sz="1400" dirty="0"/>
          </a:p>
        </p:txBody>
      </p:sp>
      <p:sp>
        <p:nvSpPr>
          <p:cNvPr id="27" name="Shape 20"/>
          <p:cNvSpPr/>
          <p:nvPr/>
        </p:nvSpPr>
        <p:spPr>
          <a:xfrm>
            <a:off x="3227832" y="3364992"/>
            <a:ext cx="2587752" cy="777240"/>
          </a:xfrm>
          <a:prstGeom prst="roundRect">
            <a:avLst>
              <a:gd name="adj" fmla="val 941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1"/>
          <p:cNvSpPr/>
          <p:nvPr/>
        </p:nvSpPr>
        <p:spPr>
          <a:xfrm>
            <a:off x="3429000" y="3584448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4098" y="3679546"/>
            <a:ext cx="175565" cy="175565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3941064" y="3364992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Resources</a:t>
            </a: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readable data</a:t>
            </a:r>
            <a:endParaRPr lang="en-US" sz="1400" dirty="0"/>
          </a:p>
        </p:txBody>
      </p:sp>
      <p:sp>
        <p:nvSpPr>
          <p:cNvPr id="31" name="Shape 23"/>
          <p:cNvSpPr/>
          <p:nvPr/>
        </p:nvSpPr>
        <p:spPr>
          <a:xfrm>
            <a:off x="5907024" y="3364992"/>
            <a:ext cx="2587752" cy="777240"/>
          </a:xfrm>
          <a:prstGeom prst="roundRect">
            <a:avLst>
              <a:gd name="adj" fmla="val 941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24"/>
          <p:cNvSpPr/>
          <p:nvPr/>
        </p:nvSpPr>
        <p:spPr>
          <a:xfrm>
            <a:off x="6108192" y="3584448"/>
            <a:ext cx="365760" cy="36576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03290" y="3679546"/>
            <a:ext cx="175565" cy="175565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6620256" y="3364992"/>
            <a:ext cx="1764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Prompts</a:t>
            </a: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templates</a:t>
            </a:r>
            <a:endParaRPr lang="en-US" sz="1400" dirty="0"/>
          </a:p>
        </p:txBody>
      </p:sp>
      <p:sp>
        <p:nvSpPr>
          <p:cNvPr id="35" name="Text 26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6" name="Text 27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4/11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GETTING SET UP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Project layout: BookTracker.Mcp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572000" cy="2331720"/>
          </a:xfrm>
          <a:prstGeom prst="roundRect">
            <a:avLst>
              <a:gd name="adj" fmla="val 3137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solution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023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30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BookTracker.Mcp/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Program.cs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Tools/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BookTools.cs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BookTracker.Mcp.csproj</a:t>
            </a:r>
            <a:endParaRPr lang="en-US" sz="130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+ ModelContextProtocol &amp; .AspNetCore pkgs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544068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0042" y="1572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007608" y="142646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project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6007608" y="170992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BookTracker.Mcp in the solution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440680" y="224028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0042" y="234964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007608" y="22037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Official C# SDK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6007608" y="248716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ModelContextProtocol + ModelContextProtocol.AspNetCore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440680" y="301752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0042" y="312688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007608" y="298094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Hosts your tools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007608" y="326440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References Core &amp; Data projects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5/11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TRANSPORT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Use Streamable HTTP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50876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4E4DC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822960" y="1783080"/>
            <a:ext cx="502920" cy="50292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719" y="1913839"/>
            <a:ext cx="241402" cy="2414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508760" y="1737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Streamable HTTP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868680" y="246888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current transport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Works over standard HTTP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C# SDK targets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663440" y="1508760"/>
            <a:ext cx="3931920" cy="2286000"/>
          </a:xfrm>
          <a:prstGeom prst="roundRect">
            <a:avLst>
              <a:gd name="adj" fmla="val 4000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937760" y="1783080"/>
            <a:ext cx="502920" cy="502920"/>
          </a:xfrm>
          <a:prstGeom prst="ellipse">
            <a:avLst/>
          </a:prstGeom>
          <a:solidFill>
            <a:srgbClr val="615C52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8519" y="1913839"/>
            <a:ext cx="241402" cy="24140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623560" y="173736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615C5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Older HTTP + SSE</a:t>
            </a:r>
            <a:endParaRPr lang="en-US" sz="1900" dirty="0"/>
          </a:p>
        </p:txBody>
      </p:sp>
      <p:sp>
        <p:nvSpPr>
          <p:cNvPr id="14" name="Text 9"/>
          <p:cNvSpPr/>
          <p:nvPr/>
        </p:nvSpPr>
        <p:spPr>
          <a:xfrm>
            <a:off x="4983480" y="246888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previous transport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Superseded — don't use</a:t>
            </a:r>
            <a:endParaRPr lang="en-US" sz="13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Avoid in new servers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16" name="Text 11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6/11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tools with typed schemas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5120640" cy="2788920"/>
          </a:xfrm>
          <a:prstGeom prst="roundRect">
            <a:avLst>
              <a:gd name="adj" fmla="val 2623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BookTools.cs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4572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McpServerTool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"Search the catalog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0A0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by title or author."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)]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async Task&lt;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[]&gt;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SearchBooks(string query) =&gt;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await _books.SearchAsync(query);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897880" y="146304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242" y="1572402"/>
            <a:ext cx="201900" cy="2019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464808" y="142646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Typed input schema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6464808" y="170992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Parameters drive the JSON schema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897880" y="228600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7242" y="2395362"/>
            <a:ext cx="201900" cy="2019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464808" y="22494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Description = contract</a:t>
            </a:r>
            <a:endParaRPr lang="en-US" sz="1350" dirty="0"/>
          </a:p>
        </p:txBody>
      </p:sp>
      <p:sp>
        <p:nvSpPr>
          <p:cNvPr id="15" name="Text 10"/>
          <p:cNvSpPr/>
          <p:nvPr/>
        </p:nvSpPr>
        <p:spPr>
          <a:xfrm>
            <a:off x="6464808" y="253288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Tells the model when to call it</a:t>
            </a:r>
            <a:endParaRPr lang="en-US" sz="1150" dirty="0"/>
          </a:p>
        </p:txBody>
      </p:sp>
      <p:sp>
        <p:nvSpPr>
          <p:cNvPr id="16" name="Shape 11"/>
          <p:cNvSpPr/>
          <p:nvPr/>
        </p:nvSpPr>
        <p:spPr>
          <a:xfrm>
            <a:off x="5897880" y="3108960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7242" y="3218322"/>
            <a:ext cx="201900" cy="2019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64808" y="307238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discipline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6464808" y="3355848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skills &amp; in-process tools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7/11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PAYOFF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Claude to your own data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371600"/>
            <a:ext cx="4434840" cy="2011680"/>
          </a:xfrm>
          <a:prstGeom prst="roundRect">
            <a:avLst>
              <a:gd name="adj" fmla="val 3636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22960" y="1517904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50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 into the tool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41248" y="1828800"/>
            <a:ext cx="3886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C58F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BookTools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BookDbContext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db,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en-US" sz="1250" dirty="0">
                <a:solidFill>
                  <a:srgbClr val="9FC3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IBookService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books)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A95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injected like any service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257800" y="1417320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7652" y="1517172"/>
            <a:ext cx="184343" cy="18434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788152" y="137160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search_books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5788152" y="163677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Query the catalog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257800" y="2075688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57652" y="21755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788152" y="202996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get_reading_progress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5788152" y="229514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a user's progress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257800" y="2734056"/>
            <a:ext cx="384048" cy="384048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7652" y="2833908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788152" y="2688336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4141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add_book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5788152" y="295351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Insert through your service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48640" y="3611880"/>
            <a:ext cx="8046720" cy="640080"/>
          </a:xfrm>
          <a:prstGeom prst="roundRect">
            <a:avLst>
              <a:gd name="adj" fmla="val 11429"/>
            </a:avLst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5"/>
          <p:cNvSpPr/>
          <p:nvPr/>
        </p:nvSpPr>
        <p:spPr>
          <a:xfrm>
            <a:off x="749808" y="3730752"/>
            <a:ext cx="420624" cy="420624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9170" y="3840114"/>
            <a:ext cx="201900" cy="2019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325880" y="3611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thin, governed gateway: </a:t>
            </a:r>
            <a:r>
              <a:rPr lang="en-US" sz="140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never touches the DB — only your tools.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8/11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200400" cy="54864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804672" y="1014984"/>
            <a:ext cx="164592" cy="164592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1051560" y="82296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kern="0" spc="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548640" y="157276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Register the server with Claude Code</a:t>
            </a:r>
            <a:endParaRPr lang="en-US" sz="2500" dirty="0"/>
          </a:p>
        </p:txBody>
      </p:sp>
      <p:sp>
        <p:nvSpPr>
          <p:cNvPr id="7" name="Text 4"/>
          <p:cNvSpPr/>
          <p:nvPr/>
        </p:nvSpPr>
        <p:spPr>
          <a:xfrm>
            <a:off x="548640" y="2048256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your server to a live tool call on real data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542032"/>
            <a:ext cx="4114800" cy="960120"/>
          </a:xfrm>
          <a:prstGeom prst="roundRect">
            <a:avLst>
              <a:gd name="adj" fmla="val 7619"/>
            </a:avLst>
          </a:prstGeom>
          <a:solidFill>
            <a:srgbClr val="1F1E1D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41248" y="279806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8000"/>
              </a:lnSpc>
              <a:buNone/>
            </a:pPr>
            <a:r>
              <a:rPr lang="en-US" sz="1250" b="1" dirty="0">
                <a:solidFill>
                  <a:srgbClr val="D977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r>
              <a:rPr lang="en-US" sz="1250" dirty="0">
                <a:solidFill>
                  <a:srgbClr val="E9E5D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mcp list</a:t>
            </a:r>
            <a:endParaRPr lang="en-US" sz="1250" dirty="0"/>
          </a:p>
          <a:p>
            <a:pPr marL="0" indent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7FB87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booktracker  ✓ connected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983480" y="262432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803" y="2695651"/>
            <a:ext cx="131674" cy="13167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67528" y="2606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 the running server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4983480" y="299008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803" y="3061411"/>
            <a:ext cx="131674" cy="13167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367528" y="297180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claude mcp list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4983480" y="3355848"/>
            <a:ext cx="274320" cy="274320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4803" y="3427171"/>
            <a:ext cx="131674" cy="13167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67528" y="33375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Invoke a tool against real data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548640" y="370332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4DAD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4"/>
          <p:cNvSpPr/>
          <p:nvPr/>
        </p:nvSpPr>
        <p:spPr>
          <a:xfrm>
            <a:off x="777240" y="3703320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0392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Watch for it:  </a:t>
            </a: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lists your tools, then calls one and returns real rows.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9/11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SKIP THIS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621792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414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7492" y="1554480"/>
            <a:ext cx="2514600" cy="2240280"/>
          </a:xfrm>
          <a:prstGeom prst="roundRect">
            <a:avLst>
              <a:gd name="adj" fmla="val 408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1444752" y="184708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1173" y="2013509"/>
            <a:ext cx="307238" cy="30723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07492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708660" y="3035808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who is calling the server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3314700" y="1554480"/>
            <a:ext cx="2514600" cy="2240280"/>
          </a:xfrm>
          <a:prstGeom prst="roundRect">
            <a:avLst>
              <a:gd name="adj" fmla="val 408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7"/>
          <p:cNvSpPr/>
          <p:nvPr/>
        </p:nvSpPr>
        <p:spPr>
          <a:xfrm>
            <a:off x="4251960" y="184708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8381" y="2013509"/>
            <a:ext cx="307238" cy="30723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14700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Input validation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3515868" y="3035808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trust tool arguments blindly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6121908" y="1554480"/>
            <a:ext cx="2514600" cy="2240280"/>
          </a:xfrm>
          <a:prstGeom prst="roundRect">
            <a:avLst>
              <a:gd name="adj" fmla="val 4082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059168" y="1847088"/>
            <a:ext cx="640080" cy="640080"/>
          </a:xfrm>
          <a:prstGeom prst="ellipse">
            <a:avLst/>
          </a:prstGeom>
          <a:solidFill>
            <a:srgbClr val="D9775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5589" y="2013509"/>
            <a:ext cx="307238" cy="30723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121908" y="265176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logging</a:t>
            </a:r>
            <a:endParaRPr lang="en-US" sz="1700" dirty="0"/>
          </a:p>
        </p:txBody>
      </p:sp>
      <p:sp>
        <p:nvSpPr>
          <p:cNvPr id="19" name="Text 13"/>
          <p:cNvSpPr/>
          <p:nvPr/>
        </p:nvSpPr>
        <p:spPr>
          <a:xfrm>
            <a:off x="6323076" y="3035808"/>
            <a:ext cx="2112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 every tool call &amp; result</a:t>
            </a:r>
            <a:endParaRPr lang="en-US" sz="1250" dirty="0"/>
          </a:p>
        </p:txBody>
      </p:sp>
      <p:sp>
        <p:nvSpPr>
          <p:cNvPr id="20" name="Text 14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21" name="Text 15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10/11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0EE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402336"/>
            <a:ext cx="329184" cy="329184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822960"/>
            <a:ext cx="3154680" cy="3429000"/>
          </a:xfrm>
          <a:prstGeom prst="roundRect">
            <a:avLst>
              <a:gd name="adj" fmla="val 3478"/>
            </a:avLst>
          </a:prstGeom>
          <a:solidFill>
            <a:srgbClr val="D97757"/>
          </a:solidFill>
          <a:ln/>
          <a:effectLst>
            <a:outerShdw blurRad="889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133856"/>
            <a:ext cx="548640" cy="54864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8680" y="175564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LAB 4</a:t>
            </a:r>
            <a:endParaRPr lang="en-US" sz="3800" dirty="0"/>
          </a:p>
        </p:txBody>
      </p:sp>
      <p:sp>
        <p:nvSpPr>
          <p:cNvPr id="6" name="Text 2"/>
          <p:cNvSpPr/>
          <p:nvPr/>
        </p:nvSpPr>
        <p:spPr>
          <a:xfrm>
            <a:off x="868680" y="2340864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min  ·  hands-on</a:t>
            </a:r>
            <a:endParaRPr lang="en-US" sz="1400" dirty="0"/>
          </a:p>
        </p:txBody>
      </p:sp>
      <p:sp>
        <p:nvSpPr>
          <p:cNvPr id="7" name="Shape 3"/>
          <p:cNvSpPr/>
          <p:nvPr/>
        </p:nvSpPr>
        <p:spPr>
          <a:xfrm>
            <a:off x="886968" y="2724912"/>
            <a:ext cx="1691640" cy="0"/>
          </a:xfrm>
          <a:prstGeom prst="line">
            <a:avLst/>
          </a:prstGeom>
          <a:noFill/>
          <a:ln w="19050">
            <a:solidFill>
              <a:srgbClr val="F2C9B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868680" y="2852928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FBE9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68680" y="3090672"/>
            <a:ext cx="2606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BookTracker.Mcp with 3+ tools connected to Claude Code, committed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069080" y="822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PARTS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4069080" y="1124712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4069080" y="1124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26280" y="1115568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Scaffold the BookTracker.Mcp server</a:t>
            </a:r>
            <a:endParaRPr lang="en-US" sz="1450" dirty="0"/>
          </a:p>
        </p:txBody>
      </p:sp>
      <p:sp>
        <p:nvSpPr>
          <p:cNvPr id="14" name="Shape 10"/>
          <p:cNvSpPr/>
          <p:nvPr/>
        </p:nvSpPr>
        <p:spPr>
          <a:xfrm>
            <a:off x="4069080" y="1563624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4069080" y="156362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4526280" y="15544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Define 3+ DI-wired tools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4069080" y="2002536"/>
            <a:ext cx="329184" cy="329184"/>
          </a:xfrm>
          <a:prstGeom prst="ellipse">
            <a:avLst/>
          </a:prstGeom>
          <a:solidFill>
            <a:srgbClr val="F4E4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4"/>
          <p:cNvSpPr/>
          <p:nvPr/>
        </p:nvSpPr>
        <p:spPr>
          <a:xfrm>
            <a:off x="4069080" y="20025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25E4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4526280" y="199339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Register &amp; invoke from Claude Code</a:t>
            </a:r>
            <a:endParaRPr lang="en-US" sz="1450" dirty="0"/>
          </a:p>
        </p:txBody>
      </p:sp>
      <p:sp>
        <p:nvSpPr>
          <p:cNvPr id="20" name="Shape 16"/>
          <p:cNvSpPr/>
          <p:nvPr/>
        </p:nvSpPr>
        <p:spPr>
          <a:xfrm>
            <a:off x="4069080" y="2487168"/>
            <a:ext cx="4572000" cy="1691640"/>
          </a:xfrm>
          <a:prstGeom prst="roundRect">
            <a:avLst>
              <a:gd name="adj" fmla="val 4324"/>
            </a:avLst>
          </a:prstGeom>
          <a:solidFill>
            <a:srgbClr val="FBFAF6"/>
          </a:solidFill>
          <a:ln w="12700">
            <a:solidFill>
              <a:srgbClr val="D8D3C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7"/>
          <p:cNvSpPr/>
          <p:nvPr/>
        </p:nvSpPr>
        <p:spPr>
          <a:xfrm>
            <a:off x="4297680" y="2615184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CHECKPOINT</a:t>
            </a:r>
            <a:endParaRPr lang="en-US" sz="1050" dirty="0"/>
          </a:p>
        </p:txBody>
      </p:sp>
      <p:pic>
        <p:nvPicPr>
          <p:cNvPr id="22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898648"/>
            <a:ext cx="182880" cy="18288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572000" y="285292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Server builds and runs</a:t>
            </a:r>
            <a:endParaRPr lang="en-US" sz="1250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182112"/>
            <a:ext cx="182880" cy="18288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572000" y="313639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3+ typed tools, clear descriptions</a:t>
            </a:r>
            <a:endParaRPr lang="en-US" sz="1250" dirty="0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465576"/>
            <a:ext cx="182880" cy="18288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572000" y="341985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call real services</a:t>
            </a:r>
            <a:endParaRPr lang="en-US" sz="1250" dirty="0"/>
          </a:p>
        </p:txBody>
      </p:sp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3749040"/>
            <a:ext cx="182880" cy="182880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4572000" y="370332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4141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 lists &amp; invokes a tool</a:t>
            </a:r>
            <a:endParaRPr lang="en-US" sz="1250" dirty="0"/>
          </a:p>
        </p:txBody>
      </p:sp>
      <p:sp>
        <p:nvSpPr>
          <p:cNvPr id="30" name="Text 22"/>
          <p:cNvSpPr/>
          <p:nvPr/>
        </p:nvSpPr>
        <p:spPr>
          <a:xfrm>
            <a:off x="548640" y="4828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dotnetclaude.com</a:t>
            </a:r>
            <a:endParaRPr lang="en-US" sz="900" dirty="0"/>
          </a:p>
        </p:txBody>
      </p:sp>
      <p:sp>
        <p:nvSpPr>
          <p:cNvPr id="31" name="Text 23"/>
          <p:cNvSpPr/>
          <p:nvPr/>
        </p:nvSpPr>
        <p:spPr>
          <a:xfrm>
            <a:off x="4572000" y="4828032"/>
            <a:ext cx="402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15C5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Section 4  ·  11/11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621</Words>
  <Application>Microsoft Macintosh PowerPoint</Application>
  <PresentationFormat>On-screen Show (16:9)</PresentationFormat>
  <Paragraphs>136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Courier New</vt:lpstr>
      <vt:lpstr>Georgia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Section 4 — Building MCP Servers in C#</dc:title>
  <dc:subject>PptxGenJS Presentation</dc:subject>
  <dc:creator>dotnetclaude.com</dc:creator>
  <cp:lastModifiedBy>Chris Woodruff</cp:lastModifiedBy>
  <cp:revision>3</cp:revision>
  <dcterms:created xsi:type="dcterms:W3CDTF">2026-06-26T16:05:50Z</dcterms:created>
  <dcterms:modified xsi:type="dcterms:W3CDTF">2026-07-08T19:02:16Z</dcterms:modified>
</cp:coreProperties>
</file>