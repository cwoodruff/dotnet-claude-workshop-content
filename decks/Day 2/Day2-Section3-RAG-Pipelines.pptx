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3296" y="914400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82880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Pipelines</a:t>
            </a:r>
            <a:endParaRPr lang="en-US" sz="5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.NET</a:t>
            </a:r>
            <a:endParaRPr lang="en-US" sz="5000" dirty="0"/>
          </a:p>
        </p:txBody>
      </p:sp>
      <p:sp>
        <p:nvSpPr>
          <p:cNvPr id="7" name="Shape 4"/>
          <p:cNvSpPr/>
          <p:nvPr/>
        </p:nvSpPr>
        <p:spPr>
          <a:xfrm>
            <a:off x="658368" y="3520440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6393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 min  ·  35 lecture / demo  +  40 lab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516" y="1530340"/>
            <a:ext cx="158008" cy="1580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417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RAG vs fine-tuning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9019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987540"/>
            <a:ext cx="158008" cy="1580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8745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chunking strategies in C#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3591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516" y="2444740"/>
            <a:ext cx="158008" cy="1580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51560" y="23317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embeddings (OpenAI or local Ollama)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8163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516" y="2901940"/>
            <a:ext cx="158008" cy="1580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51560" y="27889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&amp; query vectors in Qdrant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2735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516" y="3359140"/>
            <a:ext cx="158008" cy="1580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51560" y="3246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Retrieve by cosine similarity &amp; augment prompts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730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516" y="3816340"/>
            <a:ext cx="158008" cy="15800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515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Evaluate RAG answer quality</a:t>
            </a:r>
            <a:endParaRPr lang="en-US" sz="1600" dirty="0"/>
          </a:p>
        </p:txBody>
      </p:sp>
      <p:sp>
        <p:nvSpPr>
          <p:cNvPr id="23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2/12</a:t>
            </a:r>
            <a:endParaRPr lang="en-US" sz="900" dirty="0"/>
          </a:p>
        </p:txBody>
      </p:sp>
      <p:sp>
        <p:nvSpPr>
          <p:cNvPr id="25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Six objectives tracing the whole pipeline — chunk, embed, store, retrieve, evaluate.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APPROACHES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vs fine-tuning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931920" cy="2606040"/>
          </a:xfrm>
          <a:prstGeom prst="roundRect">
            <a:avLst>
              <a:gd name="adj" fmla="val 3509"/>
            </a:avLst>
          </a:prstGeom>
          <a:solidFill>
            <a:srgbClr val="F4E4DC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9" y="1822399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6733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822960" y="22860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 answers in your data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22960" y="2651760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Retrieve relevant context at query time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retraining — update data anytime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facts that change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663440" y="1417320"/>
            <a:ext cx="3931920" cy="2606040"/>
          </a:xfrm>
          <a:prstGeom prst="roundRect">
            <a:avLst>
              <a:gd name="adj" fmla="val 3509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937760" y="1691640"/>
            <a:ext cx="502920" cy="502920"/>
          </a:xfrm>
          <a:prstGeom prst="ellipse">
            <a:avLst/>
          </a:prstGeom>
          <a:solidFill>
            <a:srgbClr val="615C5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519" y="1822399"/>
            <a:ext cx="241402" cy="24140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77840" y="16733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4937760" y="22860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new behavior or style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4937760" y="2651760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Bakes patterns into the weights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Costly to retrain &amp; maintain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tone, format, skills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grounds answers in your data — without retraining.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3/12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Reach for RAG when the knowledge changes; fine-tune when the behavior must.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 TO END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RAG pipeline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38912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49808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68296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93192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481328" y="2331720"/>
            <a:ext cx="19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1636776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947672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6544" y="2368296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91056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Chunk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2679192" y="2331720"/>
            <a:ext cx="19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2834640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145536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2368296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788920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3877056" y="2331720"/>
            <a:ext cx="19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4032504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4343400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2272" y="2368296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86784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5074920" y="2331720"/>
            <a:ext cx="19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5230368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5541264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0136" y="2368296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184648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Retrieve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6272784" y="2331720"/>
            <a:ext cx="19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6428232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6739128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2368296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382512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Augment</a:t>
            </a:r>
            <a:endParaRPr lang="en-US" sz="1200" dirty="0"/>
          </a:p>
        </p:txBody>
      </p:sp>
      <p:sp>
        <p:nvSpPr>
          <p:cNvPr id="34" name="Text 25"/>
          <p:cNvSpPr/>
          <p:nvPr/>
        </p:nvSpPr>
        <p:spPr>
          <a:xfrm>
            <a:off x="7470648" y="2331720"/>
            <a:ext cx="192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626096" y="2011680"/>
            <a:ext cx="1078992" cy="1371600"/>
          </a:xfrm>
          <a:prstGeom prst="roundRect">
            <a:avLst>
              <a:gd name="adj" fmla="val 8475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36" name="Shape 27"/>
          <p:cNvSpPr/>
          <p:nvPr/>
        </p:nvSpPr>
        <p:spPr>
          <a:xfrm>
            <a:off x="7936992" y="224942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5864" y="2368296"/>
            <a:ext cx="219456" cy="219456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580376" y="2852928"/>
            <a:ext cx="1170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548640" y="3703320"/>
            <a:ext cx="8046720" cy="548640"/>
          </a:xfrm>
          <a:prstGeom prst="roundRect">
            <a:avLst>
              <a:gd name="adj" fmla="val 13333"/>
            </a:avLst>
          </a:prstGeom>
          <a:solidFill>
            <a:srgbClr val="F4E4DC"/>
          </a:solidFill>
          <a:ln/>
        </p:spPr>
      </p:sp>
      <p:sp>
        <p:nvSpPr>
          <p:cNvPr id="40" name="Text 30"/>
          <p:cNvSpPr/>
          <p:nvPr/>
        </p:nvSpPr>
        <p:spPr>
          <a:xfrm>
            <a:off x="777240" y="3703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 → store </a:t>
            </a:r>
            <a:pPr algn="ctr"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happens offline; </a:t>
            </a:r>
            <a:pPr algn="ctr" indent="0" marL="0">
              <a:buNone/>
            </a:pPr>
            <a:r>
              <a:rPr lang="en-US" sz="135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retrieve → generate </a:t>
            </a:r>
            <a:pPr algn="ctr"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runs per query.</a:t>
            </a:r>
            <a:endParaRPr lang="en-US" sz="1350" dirty="0"/>
          </a:p>
        </p:txBody>
      </p:sp>
      <p:sp>
        <p:nvSpPr>
          <p:cNvPr id="41" name="Text 31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42" name="Text 32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4/12</a:t>
            </a:r>
            <a:endParaRPr lang="en-US" sz="900" dirty="0"/>
          </a:p>
        </p:txBody>
      </p:sp>
      <p:sp>
        <p:nvSpPr>
          <p:cNvPr id="43" name="Text 33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Two phases: build the index once, then retrieve and generate on every request.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1E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03504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quality is determined by
</a:t>
            </a:r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chunking</a:t>
            </a:r>
            <a:pPr indent="0" marL="0">
              <a:lnSpc>
                <a:spcPct val="10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not the LLM.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40080" y="37947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C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Garbage chunks in, garbage answers out — no model can fix bad retrieval.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5/12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QUALITY IS WON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Chunking strategies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50876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90472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118" y="1925726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708660" y="283464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 enough for meaning,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enough to stay relevant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314700" y="150876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297680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326" y="1925726"/>
            <a:ext cx="263347" cy="26334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14700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Overlap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3515868" y="283464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Carry context across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boundaries so nothing is lost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121908" y="150876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104888" y="1783080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7534" y="1925726"/>
            <a:ext cx="263347" cy="26334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21908" y="24688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Semantic boundaries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6323076" y="2834640"/>
            <a:ext cx="2112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Split on sections &amp; ideas,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arbitrary character counts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3840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Tune these three before you ever touch the model.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6/12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Size, overlap, and semantic boundaries are the three dials that set quality.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VECTORS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EmbeddingService interface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029200" cy="2331720"/>
          </a:xfrm>
          <a:prstGeom prst="roundRect">
            <a:avLst>
              <a:gd name="adj" fmla="val 3137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5179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abstraction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480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C58F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IEmbeddingService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Task&lt;float[]&gt; 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EmbedAsync</a:t>
            </a:r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string text);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default impl → OpenAI API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80644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80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73368" y="14264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interface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373368" y="17099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Hide the provider behind it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806440" y="22402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80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373368" y="22037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Default: OpenAI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373368" y="248716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embedding API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806440" y="30175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5802" y="312688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73368" y="298094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float[] vectors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373368" y="326440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store &amp; compare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7/12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Program against IEmbeddingService — the provider becomes a swap, not a rewrite.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FREE-FIRST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Swap in local Ollama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960120"/>
          </a:xfrm>
          <a:prstGeom prst="roundRect">
            <a:avLst>
              <a:gd name="adj" fmla="val 9524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645920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719" y="1776679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417320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nomic-embed-text</a:t>
            </a:r>
            <a:pPr indent="0" marL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behind the same IEmbeddingService — local &amp; free.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48640" y="2606040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267919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15" y="2783799"/>
            <a:ext cx="193121" cy="19312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606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768 dimensions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4754880" y="2606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nomic-embed-text vector size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48640" y="3227832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9808" y="3300984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15" y="3405591"/>
            <a:ext cx="193121" cy="19312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25880" y="322783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Qdrant's size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4754880" y="3227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collection vector size = 768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48640" y="3849624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749808" y="392277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415" y="4027383"/>
            <a:ext cx="193121" cy="193121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384962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interface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4754880" y="384962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pipeline changes downstream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8/12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Critical: the collection's vector size must equal the model's dimensions (768).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VECTOR STORE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Qdrant in Docker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120640" cy="2788920"/>
          </a:xfrm>
          <a:prstGeom prst="roundRect">
            <a:avLst>
              <a:gd name="adj" fmla="val 2623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run + use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572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-p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6333:6333 -p 6334:6334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qdrant/qdrant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create collection (size 768)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upsert vectors + payload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query top-K by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Cosine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client.QueryAsync(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collection, vector, limit: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897880" y="1417320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2487" y="152192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46520" y="1371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container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4652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Ports 6333 (REST) + 6334 (gRPC)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897880" y="207568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2487" y="2180295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46520" y="20299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collection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46520" y="2304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Vector size + Cosine metric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897880" y="273405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487" y="2838663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46520" y="268833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top-K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446520" y="2962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Nearest chunks by similarity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5897880" y="34564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Docker? An in-memory store is the fallback.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9/12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Cosine top-K is the whole query; in-memory fallback keeps offline teams moving.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Retrieval &amp; augmentation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50876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513332" y="1746504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4091" y="1877263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35000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Top-K chunks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07492" y="26700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Nearest by cosine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022092" y="20116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3314700" y="150876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0540" y="1746504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1299" y="1877263"/>
            <a:ext cx="241402" cy="24140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35000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Augmented prompt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3314700" y="26700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+ question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829300" y="20116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6121908" y="1508760"/>
            <a:ext cx="2514600" cy="1554480"/>
          </a:xfrm>
          <a:prstGeom prst="roundRect">
            <a:avLst>
              <a:gd name="adj" fmla="val 588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127748" y="1746504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8507" y="1877263"/>
            <a:ext cx="241402" cy="24140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21908" y="235000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answer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6121908" y="26700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Cited from your data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48640" y="3383280"/>
            <a:ext cx="8046720" cy="777240"/>
          </a:xfrm>
          <a:prstGeom prst="roundRect">
            <a:avLst>
              <a:gd name="adj" fmla="val 11765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77240" y="3529584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3648456"/>
            <a:ext cx="219456" cy="21945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417320" y="3383280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Cache the static context portion — </a:t>
            </a:r>
            <a:pPr indent="0" marL="0">
              <a:buNone/>
            </a:pP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ties back to Section 1 prompt caching.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10/12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Retrieve, stuff the prompt, generate — and cache the stable context to cut cost.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5727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Ingestion → grounded recommendation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48640" y="204825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vs ungrounded — the difference is obvious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265176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2723083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633472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ingestion + embedding over the catalog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03580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107131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01752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/api/recommend — grounded in real data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41985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491179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0156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against an ungrounded answer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13632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4DAD2"/>
          </a:solidFill>
          <a:ln/>
        </p:spPr>
      </p:sp>
      <p:sp>
        <p:nvSpPr>
          <p:cNvPr id="18" name="Text 12"/>
          <p:cNvSpPr/>
          <p:nvPr/>
        </p:nvSpPr>
        <p:spPr>
          <a:xfrm>
            <a:off x="777240" y="39136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for it:  </a:t>
            </a:r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ungrounded reply invents books; the grounded one cites real ones.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11/12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Run both side by side — the hallucinated vs cited contrast sells RAG instantly.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02336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42900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55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3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4086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2491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" y="285292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9067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/api/recommend with grounded responses, committed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24712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2" name="Text 8"/>
          <p:cNvSpPr/>
          <p:nvPr/>
        </p:nvSpPr>
        <p:spPr>
          <a:xfrm>
            <a:off x="4069080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155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Ingest, chunk &amp; embed the data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56362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5" name="Text 11"/>
          <p:cNvSpPr/>
          <p:nvPr/>
        </p:nvSpPr>
        <p:spPr>
          <a:xfrm>
            <a:off x="4069080" y="1563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554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&amp; query vectors in Qdrant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02536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8" name="Text 14"/>
          <p:cNvSpPr/>
          <p:nvPr/>
        </p:nvSpPr>
        <p:spPr>
          <a:xfrm>
            <a:off x="4069080" y="2002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19933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Augment &amp; return grounded answers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487168"/>
            <a:ext cx="4572000" cy="1691640"/>
          </a:xfrm>
          <a:prstGeom prst="roundRect">
            <a:avLst>
              <a:gd name="adj" fmla="val 4324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297680" y="261518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898648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8529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Qdrant collection, vector size matches</a:t>
            </a:r>
            <a:endParaRPr lang="en-US" sz="12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182112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1363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ingested, chunked &amp; embedded</a:t>
            </a:r>
            <a:endParaRPr lang="en-US" sz="125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465576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Recommendations are grounded</a:t>
            </a:r>
            <a:endParaRPr lang="en-US" sz="125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3749040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572000" y="37033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vs ungrounded compared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3  ·  12/12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Done = grounded /api/recommend plus a clear grounded-vs-ungrounded comparison.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3 — RAG Pipelines in .NET</dc:title>
  <dc:subject>PptxGenJS Presentation</dc:subject>
  <dc:creator>dotnetclaude.com</dc:creator>
  <cp:lastModifiedBy>dotnetclaude.com</cp:lastModifiedBy>
  <cp:revision>1</cp:revision>
  <dcterms:created xsi:type="dcterms:W3CDTF">2026-06-26T16:02:01Z</dcterms:created>
  <dcterms:modified xsi:type="dcterms:W3CDTF">2026-06-26T16:02:01Z</dcterms:modified>
</cp:coreProperties>
</file>